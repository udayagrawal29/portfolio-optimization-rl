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Professor. Today I am presenting my project on Dynamic Portfolio Optimization using Deep Reinforcement Learning. In this research, I formulated the portfolio rebalancing problem as a continuous Markov Decision Process and developed an autonomous trading framework. I benchmarked three core RL paradigms—DQN, A2C, and PPO—under realistic transaction fee frictions, demonstrating that continuous actor-critic policy gradients generate superior risk-adjusted alpha compared to passive buy-and-hold strategies.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classical quantitative finance, Markowitz Mean-Variance optimization has been standard since 1952. However, it assumes fixed correlation matrices and normal distributions, which catastrophic market shocks disprove. Furthermore, supervised machine learning models only predict tomorrow's price direction—they cannot decide the exact continuous allocation vector across multiple assets and completely ignore trading fees. Reinforcement Learning solves this by directly training a policy that balances cumulative returns against downside drawdown and rebalancing friction.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apply reinforcement learning rigorously, I formulated the portfolio rebalancing task as a Markov Decision Process. The state space S_t comprises stationary return vectors and macro features. For continuous policy gradient agents, the action vector w_t represents capital allocation across the S&amp;P 500, DJIA, and Hang Seng Index, constrained to a probability simplex via Softmax. Crucially, my reward function does not reward raw return alone: it calculates the log-growth of net asset value and deducts a 10 basis point transaction cost penalty for every turnover change, discouraging high-frequency churning.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dataset spans 34 years of daily market trading from 1987 through recent history. We deliberately selected assets across differing geographic and economic spheres: the S&amp;P 500 for broad growth, the Dow Jones for industrial value, and the Hang Seng Index for Asian market exposure. As shown in the correlation matrix, Hang Seng displays low correlation with US indices, offering genuine diversification. I enforced a strict temporal split with 7,812 days for training and an untouched 281-day test period, guaranteeing zero look-ahead data leakage.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implemented two contrasting RL paradigms. First is DQN, which estimates optimal Q-values over discrete allocation choices using an experience replay buffer. However, discretizing asset weights creates step-function jumps. Second are policy gradient methods: A2C, which uses an actor network to output continuous portfolio weights and a critic to calculate advantage; and PPO, which adds a clipped surrogate loss to bound policy updates. As we will see, continuous control is essential for managing trading fees.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model was trained for 150,000 interaction steps using CUDA GPU acceleration. I calibrated the discount factor to 0.99 to emphasize long-term capital preservation over myopic single-day gains. For A2C, an entropy coefficient of 0.01 maintained healthy exploration across the asset simplex before converging. The critic loss stabilized under 0.001 within 30,000 steps, demonstrating that the value network learned to accurately evaluate market baseline states.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are the empirical results evaluated on the 281 unseen test days starting with $100,000 capital. A2C was our undisputed winner, compounding terminal wealth to $116,105—a +16.11% total return, almost doubling the +8.66% return of the passive Equal-Weight benchmark. In addition, A2C produced an institutional-grade Sharpe Ratio of 1.26 while capping maximum drawdown to just 9.02%, compared to over 10.8% for the market baseline and 12.4% for DQN.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did A2C outperform DQN so dramatically? Portfolio weights are inherently continuous. DQN is forced into discrete buckets. When market noise fluctuates, DQN rapidly flips buckets, triggering heavy transaction fee penalties from our 10 basis point friction model. A2C, on the other hand, makes smooth, continuous adjustments. It held positions during steady trends and smoothly trimmed risk during declines. PPO was safe and profitable, but its clipped objective made it more conservative than A2C.</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institutional finance, risk management is paramount. A2C achieved a Sharpe Ratio of 1.26. Any Sharpe above 1.0 is considered investment-grade by asset managers. Looking at maximum drawdown, while the passive benchmark suffered an 10.87% drawdown and DQN lost 12.4%, A2C restricted its peak-to-trough decline to 9.02%. This demonstrates that the agent learned true risk mitigation rather than taking high-beta gambles.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make this research accessible, I engineered a modular full-stack application. The core Gymnasium environment models transaction costs and simplex actions. The training pipeline trains and checkpoints all three agents. Finally, I built a Streamlit web dashboard running locally on port 8501, allowing users to explore data distributions, run single-model step-by-step simulations, and compare all models on live charts.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Developing a reliable financial RL system required solving several critical engineering hurdles. First, modeling transaction friction was necessary to prevent illusory alpha. Second, I enforced a strict probability simplex on action outputs to guarantee valid 100% budget constraints without short-selling. Third, I resolved cross-platform tensor serialization between cloud GPU training and local deployment. Finally, transforming raw prices into stationary percentage returns allowed the networks to generalize across multi-decade market regimes.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conclusion, this project demonstrates that deep reinforcement learning can dynamically optimize multi-asset portfolios and beat conventional passive baselines under realistic fee constraints. Continuous actor-critic methods proved vastly superior to discrete DQN by minimizing fee friction. In the future, I plan to expand this framework to larger asset universes and integrate Transformer-based state encoders. Thank you for your time, and I would be delighted to take any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1097280"/>
            <a:ext cx="3108960" cy="347472"/>
          </a:xfrm>
          <a:prstGeom prst="round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0F172A"/>
                </a:solidFill>
              </a:defRPr>
            </a:pPr>
            <a:r>
              <a:t>FINANCIAL MACHINE LEARNING &amp; RL</a:t>
            </a:r>
          </a:p>
        </p:txBody>
      </p:sp>
      <p:sp>
        <p:nvSpPr>
          <p:cNvPr id="4" name="TextBox 3"/>
          <p:cNvSpPr txBox="1"/>
          <p:nvPr/>
        </p:nvSpPr>
        <p:spPr>
          <a:xfrm>
            <a:off x="731520" y="1645920"/>
            <a:ext cx="10515600" cy="2011680"/>
          </a:xfrm>
          <a:prstGeom prst="rect">
            <a:avLst/>
          </a:prstGeom>
          <a:noFill/>
        </p:spPr>
        <p:txBody>
          <a:bodyPr wrap="square">
            <a:spAutoFit/>
          </a:bodyPr>
          <a:lstStyle/>
          <a:p>
            <a:pPr>
              <a:defRPr sz="3600" b="1">
                <a:solidFill>
                  <a:srgbClr val="F8FAFC"/>
                </a:solidFill>
                <a:latin typeface="Arial"/>
              </a:defRPr>
            </a:pPr>
            <a:r>
              <a:t>Dynamic Portfolio Optimization Using</a:t>
            </a:r>
            <a:br/>
            <a:r>
              <a:t>Deep Reinforcement Learning</a:t>
            </a:r>
          </a:p>
        </p:txBody>
      </p:sp>
      <p:sp>
        <p:nvSpPr>
          <p:cNvPr id="5" name="TextBox 4"/>
          <p:cNvSpPr txBox="1"/>
          <p:nvPr/>
        </p:nvSpPr>
        <p:spPr>
          <a:xfrm>
            <a:off x="731520" y="3566160"/>
            <a:ext cx="10515600" cy="914400"/>
          </a:xfrm>
          <a:prstGeom prst="rect">
            <a:avLst/>
          </a:prstGeom>
          <a:noFill/>
        </p:spPr>
        <p:txBody>
          <a:bodyPr wrap="square">
            <a:spAutoFit/>
          </a:bodyPr>
          <a:lstStyle/>
          <a:p>
            <a:pPr>
              <a:defRPr sz="1600">
                <a:solidFill>
                  <a:srgbClr val="94A3B8"/>
                </a:solidFill>
                <a:latin typeface="Arial"/>
              </a:defRPr>
            </a:pPr>
            <a:r>
              <a:t>A Comparative Study of Value-Based (DQN) and Policy-Gradient (A2C, PPO)</a:t>
            </a:r>
            <a:br/>
            <a:r>
              <a:t>Architectures Evaluated Under Realistic Transaction Frictions</a:t>
            </a:r>
          </a:p>
        </p:txBody>
      </p:sp>
      <p:sp>
        <p:nvSpPr>
          <p:cNvPr id="6" name="Rounded Rectangle 5"/>
          <p:cNvSpPr/>
          <p:nvPr/>
        </p:nvSpPr>
        <p:spPr>
          <a:xfrm>
            <a:off x="731520" y="4754880"/>
            <a:ext cx="10698480" cy="1371600"/>
          </a:xfrm>
          <a:prstGeom prst="roundRect">
            <a:avLst/>
          </a:prstGeom>
          <a:solidFill>
            <a:srgbClr val="1E293B"/>
          </a:solidFill>
          <a:ln w="1905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4937760"/>
            <a:ext cx="10149840" cy="1097280"/>
          </a:xfrm>
          <a:prstGeom prst="rect">
            <a:avLst/>
          </a:prstGeom>
          <a:noFill/>
        </p:spPr>
        <p:txBody>
          <a:bodyPr wrap="square" lIns="0" tIns="0" rIns="0" bIns="0">
            <a:spAutoFit/>
          </a:bodyPr>
          <a:lstStyle/>
          <a:p>
            <a:pPr>
              <a:spcAft>
                <a:spcPts val="800"/>
              </a:spcAft>
              <a:defRPr sz="1200">
                <a:latin typeface="Arial"/>
              </a:defRPr>
            </a:pPr>
            <a:r>
              <a:rPr b="1">
                <a:solidFill>
                  <a:srgbClr val="F8FAFC"/>
                </a:solidFill>
              </a:rPr>
              <a:t>Author &amp; Presenter: </a:t>
            </a:r>
            <a:r>
              <a:rPr>
                <a:solidFill>
                  <a:srgbClr val="94A3B8"/>
                </a:solidFill>
              </a:rPr>
              <a:t>Student / Primary Investigator</a:t>
            </a:r>
          </a:p>
          <a:p>
            <a:pPr>
              <a:spcAft>
                <a:spcPts val="800"/>
              </a:spcAft>
              <a:defRPr sz="1200">
                <a:latin typeface="Arial"/>
              </a:defRPr>
            </a:pPr>
            <a:r>
              <a:rPr b="1">
                <a:solidFill>
                  <a:srgbClr val="F8FAFC"/>
                </a:solidFill>
              </a:rPr>
              <a:t>Project Scope: </a:t>
            </a:r>
            <a:r>
              <a:rPr>
                <a:solidFill>
                  <a:srgbClr val="94A3B8"/>
                </a:solidFill>
              </a:rPr>
              <a:t>Autonomous asset allocation over S&amp;P 500, DJIA, and Hang Seng Index</a:t>
            </a:r>
          </a:p>
          <a:p>
            <a:pPr>
              <a:spcAft>
                <a:spcPts val="800"/>
              </a:spcAft>
              <a:defRPr sz="1200">
                <a:latin typeface="Arial"/>
              </a:defRPr>
            </a:pPr>
            <a:r>
              <a:rPr b="1">
                <a:solidFill>
                  <a:srgbClr val="F8FAFC"/>
                </a:solidFill>
              </a:rPr>
              <a:t>Core Algorithms Benchmarked: </a:t>
            </a:r>
            <a:r>
              <a:rPr>
                <a:solidFill>
                  <a:srgbClr val="94A3B8"/>
                </a:solidFill>
              </a:rPr>
              <a:t>Deep Q-Network (DQN), Advantage Actor-Critic (A2C), Proximal Policy Optimization (PPO)</a:t>
            </a:r>
          </a:p>
          <a:p>
            <a:pPr>
              <a:spcAft>
                <a:spcPts val="800"/>
              </a:spcAft>
              <a:defRPr sz="1200">
                <a:latin typeface="Arial"/>
              </a:defRPr>
            </a:pPr>
            <a:r>
              <a:rPr b="1">
                <a:solidFill>
                  <a:srgbClr val="F8FAFC"/>
                </a:solidFill>
              </a:rPr>
              <a:t>Key Result: </a:t>
            </a:r>
            <a:r>
              <a:rPr>
                <a:solidFill>
                  <a:srgbClr val="94A3B8"/>
                </a:solidFill>
              </a:rPr>
              <a:t>A2C generated +16.11% total return with a 1.26 Sharpe Ratio, nearly doubling the market benchmark (+8.66%)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058400" cy="320040"/>
          </a:xfrm>
          <a:prstGeom prst="rect">
            <a:avLst/>
          </a:prstGeom>
          <a:noFill/>
        </p:spPr>
        <p:txBody>
          <a:bodyPr wrap="square" lIns="0" tIns="0" rIns="0" bIns="0">
            <a:spAutoFit/>
          </a:bodyPr>
          <a:lstStyle/>
          <a:p>
            <a:pPr>
              <a:defRPr sz="1100" b="1">
                <a:solidFill>
                  <a:srgbClr val="0EA5E9"/>
                </a:solidFill>
                <a:latin typeface="Arial"/>
              </a:defRPr>
            </a:pPr>
            <a:r>
              <a:t>CONTEXT &amp; MOTIVATION</a:t>
            </a:r>
          </a:p>
        </p:txBody>
      </p:sp>
      <p:sp>
        <p:nvSpPr>
          <p:cNvPr id="4" name="TextBox 3"/>
          <p:cNvSpPr txBox="1"/>
          <p:nvPr/>
        </p:nvSpPr>
        <p:spPr>
          <a:xfrm>
            <a:off x="731520" y="658368"/>
            <a:ext cx="10515600" cy="548640"/>
          </a:xfrm>
          <a:prstGeom prst="rect">
            <a:avLst/>
          </a:prstGeom>
          <a:noFill/>
        </p:spPr>
        <p:txBody>
          <a:bodyPr wrap="square" lIns="0" tIns="0" rIns="0" bIns="0">
            <a:spAutoFit/>
          </a:bodyPr>
          <a:lstStyle/>
          <a:p>
            <a:pPr>
              <a:defRPr sz="2200" b="1">
                <a:solidFill>
                  <a:srgbClr val="F8FAFC"/>
                </a:solidFill>
                <a:latin typeface="Arial"/>
              </a:defRPr>
            </a:pPr>
            <a:r>
              <a:t>Problem Motivation: Why Traditional Quantitative Finance Fails</a:t>
            </a:r>
          </a:p>
        </p:txBody>
      </p:sp>
      <p:sp>
        <p:nvSpPr>
          <p:cNvPr id="5" name="Rounded Rectangle 4"/>
          <p:cNvSpPr/>
          <p:nvPr/>
        </p:nvSpPr>
        <p:spPr>
          <a:xfrm>
            <a:off x="731520" y="1463040"/>
            <a:ext cx="3383280" cy="475488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645920"/>
            <a:ext cx="2926080" cy="365760"/>
          </a:xfrm>
          <a:prstGeom prst="rect">
            <a:avLst/>
          </a:prstGeom>
          <a:noFill/>
        </p:spPr>
        <p:txBody>
          <a:bodyPr wrap="square" lIns="0" tIns="0" rIns="0" bIns="0">
            <a:spAutoFit/>
          </a:bodyPr>
          <a:lstStyle/>
          <a:p>
            <a:pPr>
              <a:defRPr sz="1400" b="1">
                <a:solidFill>
                  <a:srgbClr val="0EA5E9"/>
                </a:solidFill>
                <a:latin typeface="Arial"/>
              </a:defRPr>
            </a:pPr>
            <a:r>
              <a:t>1. Modern Portfolio Theory (MPT)</a:t>
            </a:r>
          </a:p>
        </p:txBody>
      </p:sp>
      <p:sp>
        <p:nvSpPr>
          <p:cNvPr id="7" name="TextBox 6"/>
          <p:cNvSpPr txBox="1"/>
          <p:nvPr/>
        </p:nvSpPr>
        <p:spPr>
          <a:xfrm>
            <a:off x="960120" y="2011680"/>
            <a:ext cx="2926080" cy="3931920"/>
          </a:xfrm>
          <a:prstGeom prst="rect">
            <a:avLst/>
          </a:prstGeom>
          <a:noFill/>
        </p:spPr>
        <p:txBody>
          <a:bodyPr wrap="square" lIns="0" tIns="0" rIns="0" bIns="0">
            <a:spAutoFit/>
          </a:bodyPr>
          <a:lstStyle/>
          <a:p>
            <a:pPr>
              <a:spcAft>
                <a:spcPts val="800"/>
              </a:spcAft>
              <a:defRPr sz="1200">
                <a:latin typeface="Arial"/>
              </a:defRPr>
            </a:pPr>
            <a:r>
              <a:rPr b="1">
                <a:solidFill>
                  <a:srgbClr val="F8FAFC"/>
                </a:solidFill>
              </a:rPr>
              <a:t>Origins: </a:t>
            </a:r>
            <a:r>
              <a:rPr>
                <a:solidFill>
                  <a:srgbClr val="94A3B8"/>
                </a:solidFill>
              </a:rPr>
              <a:t>Markowitz Mean-Variance Optimization (1952).</a:t>
            </a:r>
          </a:p>
          <a:p>
            <a:pPr>
              <a:spcAft>
                <a:spcPts val="800"/>
              </a:spcAft>
              <a:defRPr sz="1200">
                <a:latin typeface="Arial"/>
              </a:defRPr>
            </a:pPr>
            <a:r>
              <a:rPr b="1">
                <a:solidFill>
                  <a:srgbClr val="F8FAFC"/>
                </a:solidFill>
              </a:rPr>
              <a:t>Static Assumption: </a:t>
            </a:r>
            <a:r>
              <a:rPr>
                <a:solidFill>
                  <a:srgbClr val="94A3B8"/>
                </a:solidFill>
              </a:rPr>
              <a:t>Assumes stationary expected returns and constant covariance matrices.</a:t>
            </a:r>
          </a:p>
          <a:p>
            <a:pPr>
              <a:spcAft>
                <a:spcPts val="800"/>
              </a:spcAft>
              <a:defRPr sz="1200">
                <a:latin typeface="Arial"/>
              </a:defRPr>
            </a:pPr>
            <a:r>
              <a:rPr b="1">
                <a:solidFill>
                  <a:srgbClr val="F8FAFC"/>
                </a:solidFill>
              </a:rPr>
              <a:t>Fragility: </a:t>
            </a:r>
            <a:r>
              <a:rPr>
                <a:solidFill>
                  <a:srgbClr val="94A3B8"/>
                </a:solidFill>
              </a:rPr>
              <a:t>Historical covariance breaks down during market shocks and volatility spikes.</a:t>
            </a:r>
          </a:p>
          <a:p>
            <a:pPr>
              <a:spcAft>
                <a:spcPts val="800"/>
              </a:spcAft>
              <a:defRPr sz="1200">
                <a:latin typeface="Arial"/>
              </a:defRPr>
            </a:pPr>
            <a:r>
              <a:rPr b="1">
                <a:solidFill>
                  <a:srgbClr val="F8FAFC"/>
                </a:solidFill>
              </a:rPr>
              <a:t>Error Maximization: </a:t>
            </a:r>
            <a:r>
              <a:rPr>
                <a:solidFill>
                  <a:srgbClr val="94A3B8"/>
                </a:solidFill>
              </a:rPr>
              <a:t>Small estimation errors in return inputs produce drastically sub-optimal allocations.</a:t>
            </a:r>
          </a:p>
          <a:p>
            <a:pPr>
              <a:spcAft>
                <a:spcPts val="800"/>
              </a:spcAft>
              <a:defRPr sz="1200">
                <a:latin typeface="Arial"/>
              </a:defRPr>
            </a:pPr>
            <a:r>
              <a:rPr b="1">
                <a:solidFill>
                  <a:srgbClr val="F8FAFC"/>
                </a:solidFill>
              </a:rPr>
              <a:t>Frictionless Flaw: </a:t>
            </a:r>
            <a:r>
              <a:rPr>
                <a:solidFill>
                  <a:srgbClr val="94A3B8"/>
                </a:solidFill>
              </a:rPr>
              <a:t>Ignores real-world slippage and transaction rebalancing costs.</a:t>
            </a:r>
          </a:p>
        </p:txBody>
      </p:sp>
      <p:sp>
        <p:nvSpPr>
          <p:cNvPr id="8" name="Rounded Rectangle 7"/>
          <p:cNvSpPr/>
          <p:nvPr/>
        </p:nvSpPr>
        <p:spPr>
          <a:xfrm>
            <a:off x="4389120" y="1463040"/>
            <a:ext cx="3383280" cy="475488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17720" y="1645920"/>
            <a:ext cx="2926080" cy="365760"/>
          </a:xfrm>
          <a:prstGeom prst="rect">
            <a:avLst/>
          </a:prstGeom>
          <a:noFill/>
        </p:spPr>
        <p:txBody>
          <a:bodyPr wrap="square" lIns="0" tIns="0" rIns="0" bIns="0">
            <a:spAutoFit/>
          </a:bodyPr>
          <a:lstStyle/>
          <a:p>
            <a:pPr>
              <a:defRPr sz="1400" b="1">
                <a:solidFill>
                  <a:srgbClr val="0EA5E9"/>
                </a:solidFill>
                <a:latin typeface="Arial"/>
              </a:defRPr>
            </a:pPr>
            <a:r>
              <a:t>2. Supervised Learning Flaws</a:t>
            </a:r>
          </a:p>
        </p:txBody>
      </p:sp>
      <p:sp>
        <p:nvSpPr>
          <p:cNvPr id="10" name="TextBox 9"/>
          <p:cNvSpPr txBox="1"/>
          <p:nvPr/>
        </p:nvSpPr>
        <p:spPr>
          <a:xfrm>
            <a:off x="4617720" y="2011680"/>
            <a:ext cx="2926080" cy="3931920"/>
          </a:xfrm>
          <a:prstGeom prst="rect">
            <a:avLst/>
          </a:prstGeom>
          <a:noFill/>
        </p:spPr>
        <p:txBody>
          <a:bodyPr wrap="square" lIns="0" tIns="0" rIns="0" bIns="0">
            <a:spAutoFit/>
          </a:bodyPr>
          <a:lstStyle/>
          <a:p>
            <a:pPr>
              <a:spcAft>
                <a:spcPts val="800"/>
              </a:spcAft>
              <a:defRPr sz="1200">
                <a:latin typeface="Arial"/>
              </a:defRPr>
            </a:pPr>
            <a:r>
              <a:rPr b="1">
                <a:solidFill>
                  <a:srgbClr val="F8FAFC"/>
                </a:solidFill>
              </a:rPr>
              <a:t>Isolated Predictions: </a:t>
            </a:r>
            <a:r>
              <a:rPr>
                <a:solidFill>
                  <a:srgbClr val="94A3B8"/>
                </a:solidFill>
              </a:rPr>
              <a:t>Focuses purely on single-period direction (Up/Down or Next-day Close).</a:t>
            </a:r>
          </a:p>
          <a:p>
            <a:pPr>
              <a:spcAft>
                <a:spcPts val="800"/>
              </a:spcAft>
              <a:defRPr sz="1200">
                <a:latin typeface="Arial"/>
              </a:defRPr>
            </a:pPr>
            <a:r>
              <a:rPr b="1">
                <a:solidFill>
                  <a:srgbClr val="F8FAFC"/>
                </a:solidFill>
              </a:rPr>
              <a:t>No Action Space: </a:t>
            </a:r>
            <a:r>
              <a:rPr>
                <a:solidFill>
                  <a:srgbClr val="94A3B8"/>
                </a:solidFill>
              </a:rPr>
              <a:t>A price forecast does not determine the optimal multi-asset budget distribution.</a:t>
            </a:r>
          </a:p>
          <a:p>
            <a:pPr>
              <a:spcAft>
                <a:spcPts val="800"/>
              </a:spcAft>
              <a:defRPr sz="1200">
                <a:latin typeface="Arial"/>
              </a:defRPr>
            </a:pPr>
            <a:r>
              <a:rPr b="1">
                <a:solidFill>
                  <a:srgbClr val="F8FAFC"/>
                </a:solidFill>
              </a:rPr>
              <a:t>Missing Feedback Loops: </a:t>
            </a:r>
            <a:r>
              <a:rPr>
                <a:solidFill>
                  <a:srgbClr val="94A3B8"/>
                </a:solidFill>
              </a:rPr>
              <a:t>Fails to consider compounding capital state $V_t$ over time.</a:t>
            </a:r>
          </a:p>
          <a:p>
            <a:pPr>
              <a:spcAft>
                <a:spcPts val="800"/>
              </a:spcAft>
              <a:defRPr sz="1200">
                <a:latin typeface="Arial"/>
              </a:defRPr>
            </a:pPr>
            <a:r>
              <a:rPr b="1">
                <a:solidFill>
                  <a:srgbClr val="F8FAFC"/>
                </a:solidFill>
              </a:rPr>
              <a:t>Turnover Penalty: </a:t>
            </a:r>
            <a:r>
              <a:rPr>
                <a:solidFill>
                  <a:srgbClr val="94A3B8"/>
                </a:solidFill>
              </a:rPr>
              <a:t>Frequent high-conviction signals trigger aggressive rebalancing, destroying alpha via fees.</a:t>
            </a:r>
          </a:p>
          <a:p>
            <a:pPr>
              <a:spcAft>
                <a:spcPts val="800"/>
              </a:spcAft>
              <a:defRPr sz="1200">
                <a:latin typeface="Arial"/>
              </a:defRPr>
            </a:pPr>
            <a:r>
              <a:rPr b="1">
                <a:solidFill>
                  <a:srgbClr val="F8FAFC"/>
                </a:solidFill>
              </a:rPr>
              <a:t>Risk Incompetence: </a:t>
            </a:r>
            <a:r>
              <a:rPr>
                <a:solidFill>
                  <a:srgbClr val="94A3B8"/>
                </a:solidFill>
              </a:rPr>
              <a:t>Does not natively penalize drawdown or optimize Sharpe Ratio.</a:t>
            </a:r>
          </a:p>
        </p:txBody>
      </p:sp>
      <p:sp>
        <p:nvSpPr>
          <p:cNvPr id="11" name="Rounded Rectangle 10"/>
          <p:cNvSpPr/>
          <p:nvPr/>
        </p:nvSpPr>
        <p:spPr>
          <a:xfrm>
            <a:off x="8046720" y="1463040"/>
            <a:ext cx="3383280" cy="4754880"/>
          </a:xfrm>
          <a:prstGeom prst="roundRect">
            <a:avLst/>
          </a:prstGeom>
          <a:solidFill>
            <a:srgbClr val="1E29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75320" y="1645920"/>
            <a:ext cx="2926080" cy="365760"/>
          </a:xfrm>
          <a:prstGeom prst="rect">
            <a:avLst/>
          </a:prstGeom>
          <a:noFill/>
        </p:spPr>
        <p:txBody>
          <a:bodyPr wrap="square" lIns="0" tIns="0" rIns="0" bIns="0">
            <a:spAutoFit/>
          </a:bodyPr>
          <a:lstStyle/>
          <a:p>
            <a:pPr>
              <a:defRPr sz="1400" b="1">
                <a:solidFill>
                  <a:srgbClr val="0EA5E9"/>
                </a:solidFill>
                <a:latin typeface="Arial"/>
              </a:defRPr>
            </a:pPr>
            <a:r>
              <a:t>3. The Reinforcement Learning Paradigm</a:t>
            </a:r>
          </a:p>
        </p:txBody>
      </p:sp>
      <p:sp>
        <p:nvSpPr>
          <p:cNvPr id="13" name="TextBox 12"/>
          <p:cNvSpPr txBox="1"/>
          <p:nvPr/>
        </p:nvSpPr>
        <p:spPr>
          <a:xfrm>
            <a:off x="8275320" y="2011680"/>
            <a:ext cx="2926080" cy="3931920"/>
          </a:xfrm>
          <a:prstGeom prst="rect">
            <a:avLst/>
          </a:prstGeom>
          <a:noFill/>
        </p:spPr>
        <p:txBody>
          <a:bodyPr wrap="square" lIns="0" tIns="0" rIns="0" bIns="0">
            <a:spAutoFit/>
          </a:bodyPr>
          <a:lstStyle/>
          <a:p>
            <a:pPr>
              <a:spcAft>
                <a:spcPts val="800"/>
              </a:spcAft>
              <a:defRPr sz="1200">
                <a:latin typeface="Arial"/>
              </a:defRPr>
            </a:pPr>
            <a:r>
              <a:rPr b="1">
                <a:solidFill>
                  <a:srgbClr val="F8FAFC"/>
                </a:solidFill>
              </a:rPr>
              <a:t>Long-Term Utility: </a:t>
            </a:r>
            <a:r>
              <a:rPr>
                <a:solidFill>
                  <a:srgbClr val="94A3B8"/>
                </a:solidFill>
              </a:rPr>
              <a:t>Directly maximizes cumulative portfolio wealth and risk-adjusted returns.</a:t>
            </a:r>
          </a:p>
          <a:p>
            <a:pPr>
              <a:spcAft>
                <a:spcPts val="800"/>
              </a:spcAft>
              <a:defRPr sz="1200">
                <a:latin typeface="Arial"/>
              </a:defRPr>
            </a:pPr>
            <a:r>
              <a:rPr b="1">
                <a:solidFill>
                  <a:srgbClr val="F8FAFC"/>
                </a:solidFill>
              </a:rPr>
              <a:t>Sequential Policy: </a:t>
            </a:r>
            <a:r>
              <a:rPr>
                <a:solidFill>
                  <a:srgbClr val="94A3B8"/>
                </a:solidFill>
              </a:rPr>
              <a:t>Considers current capital, market regime, and future discounted trajectory.</a:t>
            </a:r>
          </a:p>
          <a:p>
            <a:pPr>
              <a:spcAft>
                <a:spcPts val="800"/>
              </a:spcAft>
              <a:defRPr sz="1200">
                <a:latin typeface="Arial"/>
              </a:defRPr>
            </a:pPr>
            <a:r>
              <a:rPr b="1">
                <a:solidFill>
                  <a:srgbClr val="F8FAFC"/>
                </a:solidFill>
              </a:rPr>
              <a:t>End-to-End Decision: </a:t>
            </a:r>
            <a:r>
              <a:rPr>
                <a:solidFill>
                  <a:srgbClr val="94A3B8"/>
                </a:solidFill>
              </a:rPr>
              <a:t>Directly maps continuous market states to asset weight allocation vectors.</a:t>
            </a:r>
          </a:p>
          <a:p>
            <a:pPr>
              <a:spcAft>
                <a:spcPts val="800"/>
              </a:spcAft>
              <a:defRPr sz="1200">
                <a:latin typeface="Arial"/>
              </a:defRPr>
            </a:pPr>
            <a:r>
              <a:rPr b="1">
                <a:solidFill>
                  <a:srgbClr val="F8FAFC"/>
                </a:solidFill>
              </a:rPr>
              <a:t>Cost-Aware: </a:t>
            </a:r>
            <a:r>
              <a:rPr>
                <a:solidFill>
                  <a:srgbClr val="94A3B8"/>
                </a:solidFill>
              </a:rPr>
              <a:t>Penalizes turnover in the reward function, learning when to trade and when to hold.</a:t>
            </a:r>
          </a:p>
          <a:p>
            <a:pPr>
              <a:spcAft>
                <a:spcPts val="800"/>
              </a:spcAft>
              <a:defRPr sz="1200">
                <a:latin typeface="Arial"/>
              </a:defRPr>
            </a:pPr>
            <a:r>
              <a:rPr b="1">
                <a:solidFill>
                  <a:srgbClr val="F8FAFC"/>
                </a:solidFill>
              </a:rPr>
              <a:t>Non-Stationary Adaptation: </a:t>
            </a:r>
            <a:r>
              <a:rPr>
                <a:solidFill>
                  <a:srgbClr val="94A3B8"/>
                </a:solidFill>
              </a:rPr>
              <a:t>Learns dynamic policies across varying macro cycles.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058400" cy="320040"/>
          </a:xfrm>
          <a:prstGeom prst="rect">
            <a:avLst/>
          </a:prstGeom>
          <a:noFill/>
        </p:spPr>
        <p:txBody>
          <a:bodyPr wrap="square" lIns="0" tIns="0" rIns="0" bIns="0">
            <a:spAutoFit/>
          </a:bodyPr>
          <a:lstStyle/>
          <a:p>
            <a:pPr>
              <a:defRPr sz="1100" b="1">
                <a:solidFill>
                  <a:srgbClr val="0EA5E9"/>
                </a:solidFill>
                <a:latin typeface="Arial"/>
              </a:defRPr>
            </a:pPr>
            <a:r>
              <a:t>MATHEMATICAL FORMULATION</a:t>
            </a:r>
          </a:p>
        </p:txBody>
      </p:sp>
      <p:sp>
        <p:nvSpPr>
          <p:cNvPr id="4" name="TextBox 3"/>
          <p:cNvSpPr txBox="1"/>
          <p:nvPr/>
        </p:nvSpPr>
        <p:spPr>
          <a:xfrm>
            <a:off x="731520" y="658368"/>
            <a:ext cx="10515600" cy="548640"/>
          </a:xfrm>
          <a:prstGeom prst="rect">
            <a:avLst/>
          </a:prstGeom>
          <a:noFill/>
        </p:spPr>
        <p:txBody>
          <a:bodyPr wrap="square" lIns="0" tIns="0" rIns="0" bIns="0">
            <a:spAutoFit/>
          </a:bodyPr>
          <a:lstStyle/>
          <a:p>
            <a:pPr>
              <a:defRPr sz="2200" b="1">
                <a:solidFill>
                  <a:srgbClr val="F8FAFC"/>
                </a:solidFill>
                <a:latin typeface="Arial"/>
              </a:defRPr>
            </a:pPr>
            <a:r>
              <a:t>Mathematical Framework: Formulating Portfolio Allocation as an MDP</a:t>
            </a:r>
          </a:p>
        </p:txBody>
      </p:sp>
      <p:sp>
        <p:nvSpPr>
          <p:cNvPr id="5" name="Rounded Rectangle 4"/>
          <p:cNvSpPr/>
          <p:nvPr/>
        </p:nvSpPr>
        <p:spPr>
          <a:xfrm>
            <a:off x="731520" y="1463040"/>
            <a:ext cx="5120640" cy="475488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645920"/>
            <a:ext cx="4663440" cy="365760"/>
          </a:xfrm>
          <a:prstGeom prst="rect">
            <a:avLst/>
          </a:prstGeom>
          <a:noFill/>
        </p:spPr>
        <p:txBody>
          <a:bodyPr wrap="square" lIns="0" tIns="0" rIns="0" bIns="0">
            <a:spAutoFit/>
          </a:bodyPr>
          <a:lstStyle/>
          <a:p>
            <a:pPr>
              <a:defRPr sz="1400" b="1">
                <a:solidFill>
                  <a:srgbClr val="0EA5E9"/>
                </a:solidFill>
                <a:latin typeface="Arial"/>
              </a:defRPr>
            </a:pPr>
            <a:r>
              <a:t>MDP Components: State &amp; Action Spaces</a:t>
            </a:r>
          </a:p>
        </p:txBody>
      </p:sp>
      <p:sp>
        <p:nvSpPr>
          <p:cNvPr id="7" name="TextBox 6"/>
          <p:cNvSpPr txBox="1"/>
          <p:nvPr/>
        </p:nvSpPr>
        <p:spPr>
          <a:xfrm>
            <a:off x="960120" y="2011680"/>
            <a:ext cx="4663440" cy="3931920"/>
          </a:xfrm>
          <a:prstGeom prst="rect">
            <a:avLst/>
          </a:prstGeom>
          <a:noFill/>
        </p:spPr>
        <p:txBody>
          <a:bodyPr wrap="square" lIns="0" tIns="0" rIns="0" bIns="0">
            <a:spAutoFit/>
          </a:bodyPr>
          <a:lstStyle/>
          <a:p>
            <a:pPr>
              <a:spcAft>
                <a:spcPts val="800"/>
              </a:spcAft>
              <a:defRPr sz="1200">
                <a:latin typeface="Arial"/>
              </a:defRPr>
            </a:pPr>
            <a:r>
              <a:rPr b="1">
                <a:solidFill>
                  <a:srgbClr val="F8FAFC"/>
                </a:solidFill>
              </a:rPr>
              <a:t>State Space S_t in R^d: </a:t>
            </a:r>
            <a:r>
              <a:rPr>
                <a:solidFill>
                  <a:srgbClr val="94A3B8"/>
                </a:solidFill>
              </a:rPr>
              <a:t>Continuous vector capturing normalized returns, technical features, and macro indicators across global equity indices.</a:t>
            </a:r>
          </a:p>
          <a:p>
            <a:pPr>
              <a:spcAft>
                <a:spcPts val="800"/>
              </a:spcAft>
              <a:defRPr sz="1200">
                <a:latin typeface="Arial"/>
              </a:defRPr>
            </a:pPr>
            <a:r>
              <a:rPr b="1">
                <a:solidFill>
                  <a:srgbClr val="F8FAFC"/>
                </a:solidFill>
              </a:rPr>
              <a:t>Stationarity Transformation: </a:t>
            </a:r>
            <a:r>
              <a:rPr>
                <a:solidFill>
                  <a:srgbClr val="94A3B8"/>
                </a:solidFill>
              </a:rPr>
              <a:t>Inputs are stationary percentage changes and relative oscillators rather than raw non-stationary price series.</a:t>
            </a:r>
          </a:p>
          <a:p>
            <a:pPr>
              <a:spcAft>
                <a:spcPts val="800"/>
              </a:spcAft>
              <a:defRPr sz="1200">
                <a:latin typeface="Arial"/>
              </a:defRPr>
            </a:pPr>
            <a:r>
              <a:rPr b="1">
                <a:solidFill>
                  <a:srgbClr val="F8FAFC"/>
                </a:solidFill>
              </a:rPr>
              <a:t>Continuous Action Space (A2C/PPO): </a:t>
            </a:r>
            <a:r>
              <a:rPr>
                <a:solidFill>
                  <a:srgbClr val="94A3B8"/>
                </a:solidFill>
              </a:rPr>
              <a:t>Allocation weight vector w_t = [w_sp500, w_djia, w_hsi].</a:t>
            </a:r>
          </a:p>
          <a:p>
            <a:pPr>
              <a:spcAft>
                <a:spcPts val="800"/>
              </a:spcAft>
              <a:defRPr sz="1200">
                <a:latin typeface="Arial"/>
              </a:defRPr>
            </a:pPr>
            <a:r>
              <a:rPr b="1">
                <a:solidFill>
                  <a:srgbClr val="F8FAFC"/>
                </a:solidFill>
              </a:rPr>
              <a:t>Simplex Constraint: </a:t>
            </a:r>
            <a:r>
              <a:rPr>
                <a:solidFill>
                  <a:srgbClr val="94A3B8"/>
                </a:solidFill>
              </a:rPr>
              <a:t>sum(w_i,t) = 1 and w_i,t &gt;= 0. Enforced mathematically via Softmax projection to prevent leverage or short-selling.</a:t>
            </a:r>
          </a:p>
          <a:p>
            <a:pPr>
              <a:spcAft>
                <a:spcPts val="800"/>
              </a:spcAft>
              <a:defRPr sz="1200">
                <a:latin typeface="Arial"/>
              </a:defRPr>
            </a:pPr>
            <a:r>
              <a:rPr b="1">
                <a:solidFill>
                  <a:srgbClr val="F8FAFC"/>
                </a:solidFill>
              </a:rPr>
              <a:t>Discrete Action Space (DQN): </a:t>
            </a:r>
            <a:r>
              <a:rPr>
                <a:solidFill>
                  <a:srgbClr val="94A3B8"/>
                </a:solidFill>
              </a:rPr>
              <a:t>Discretized budget grid with 27 discrete asset combination classes.</a:t>
            </a:r>
          </a:p>
        </p:txBody>
      </p:sp>
      <p:sp>
        <p:nvSpPr>
          <p:cNvPr id="8" name="Rounded Rectangle 7"/>
          <p:cNvSpPr/>
          <p:nvPr/>
        </p:nvSpPr>
        <p:spPr>
          <a:xfrm>
            <a:off x="6217920" y="1463040"/>
            <a:ext cx="5212080" cy="4754880"/>
          </a:xfrm>
          <a:prstGeom prst="roundRect">
            <a:avLst/>
          </a:prstGeom>
          <a:solidFill>
            <a:srgbClr val="1E293B"/>
          </a:solidFill>
          <a:ln w="1905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46520" y="1645920"/>
            <a:ext cx="4754880" cy="365760"/>
          </a:xfrm>
          <a:prstGeom prst="rect">
            <a:avLst/>
          </a:prstGeom>
          <a:noFill/>
        </p:spPr>
        <p:txBody>
          <a:bodyPr wrap="square" lIns="0" tIns="0" rIns="0" bIns="0">
            <a:spAutoFit/>
          </a:bodyPr>
          <a:lstStyle/>
          <a:p>
            <a:pPr>
              <a:defRPr sz="1400" b="1">
                <a:solidFill>
                  <a:srgbClr val="0EA5E9"/>
                </a:solidFill>
                <a:latin typeface="Arial"/>
              </a:defRPr>
            </a:pPr>
            <a:r>
              <a:t>Reward Function with Transaction Cost Friction</a:t>
            </a:r>
          </a:p>
        </p:txBody>
      </p:sp>
      <p:sp>
        <p:nvSpPr>
          <p:cNvPr id="10" name="TextBox 9"/>
          <p:cNvSpPr txBox="1"/>
          <p:nvPr/>
        </p:nvSpPr>
        <p:spPr>
          <a:xfrm>
            <a:off x="6446520" y="2011680"/>
            <a:ext cx="4754880" cy="3931920"/>
          </a:xfrm>
          <a:prstGeom prst="rect">
            <a:avLst/>
          </a:prstGeom>
          <a:noFill/>
        </p:spPr>
        <p:txBody>
          <a:bodyPr wrap="square" lIns="0" tIns="0" rIns="0" bIns="0">
            <a:spAutoFit/>
          </a:bodyPr>
          <a:lstStyle/>
          <a:p>
            <a:pPr>
              <a:spcAft>
                <a:spcPts val="800"/>
              </a:spcAft>
              <a:defRPr sz="1200">
                <a:latin typeface="Arial"/>
              </a:defRPr>
            </a:pPr>
            <a:r>
              <a:rPr b="1">
                <a:solidFill>
                  <a:srgbClr val="F8FAFC"/>
                </a:solidFill>
              </a:rPr>
              <a:t>Reward Objective: </a:t>
            </a:r>
            <a:r>
              <a:rPr>
                <a:solidFill>
                  <a:srgbClr val="94A3B8"/>
                </a:solidFill>
              </a:rPr>
              <a:t>R_t = ln(V_t / V_{t-1}) - kappa * sum(|w_{i,t} - w_{i,t-1}|) - lambda * sigma_t</a:t>
            </a:r>
          </a:p>
          <a:p>
            <a:pPr>
              <a:spcAft>
                <a:spcPts val="800"/>
              </a:spcAft>
              <a:defRPr sz="1200">
                <a:latin typeface="Arial"/>
              </a:defRPr>
            </a:pPr>
            <a:r>
              <a:rPr b="1">
                <a:solidFill>
                  <a:srgbClr val="F8FAFC"/>
                </a:solidFill>
              </a:rPr>
              <a:t>Net Wealth Ratio ln(V_t / V_{t-1}): </a:t>
            </a:r>
            <a:r>
              <a:rPr>
                <a:solidFill>
                  <a:srgbClr val="94A3B8"/>
                </a:solidFill>
              </a:rPr>
              <a:t>The logarithmic growth of the portfolio NAV over the daily trading interval.</a:t>
            </a:r>
          </a:p>
          <a:p>
            <a:pPr>
              <a:spcAft>
                <a:spcPts val="800"/>
              </a:spcAft>
              <a:defRPr sz="1200">
                <a:latin typeface="Arial"/>
              </a:defRPr>
            </a:pPr>
            <a:r>
              <a:rPr b="1">
                <a:solidFill>
                  <a:srgbClr val="F8FAFC"/>
                </a:solidFill>
              </a:rPr>
              <a:t>Transaction Friction Penalty (kappa): </a:t>
            </a:r>
            <a:r>
              <a:rPr>
                <a:solidFill>
                  <a:srgbClr val="94A3B8"/>
                </a:solidFill>
              </a:rPr>
              <a:t>kappa = 0.001 (10 basis points / 0.10% fee per turnover unit). This heavily penalizes unnecessary portfolio churn.</a:t>
            </a:r>
          </a:p>
          <a:p>
            <a:pPr>
              <a:spcAft>
                <a:spcPts val="800"/>
              </a:spcAft>
              <a:defRPr sz="1200">
                <a:latin typeface="Arial"/>
              </a:defRPr>
            </a:pPr>
            <a:r>
              <a:rPr b="1">
                <a:solidFill>
                  <a:srgbClr val="F8FAFC"/>
                </a:solidFill>
              </a:rPr>
              <a:t>Risk Regularization (lambda * sigma): </a:t>
            </a:r>
            <a:r>
              <a:rPr>
                <a:solidFill>
                  <a:srgbClr val="94A3B8"/>
                </a:solidFill>
              </a:rPr>
              <a:t>Penalizes excessive local variance to promote capital stability during volatile regimes.</a:t>
            </a:r>
          </a:p>
          <a:p>
            <a:pPr>
              <a:spcAft>
                <a:spcPts val="800"/>
              </a:spcAft>
              <a:defRPr sz="1200">
                <a:latin typeface="Arial"/>
              </a:defRPr>
            </a:pPr>
            <a:r>
              <a:rPr b="1">
                <a:solidFill>
                  <a:srgbClr val="F8FAFC"/>
                </a:solidFill>
              </a:rPr>
              <a:t>Discount Factor (gamma = 0.99): </a:t>
            </a:r>
            <a:r>
              <a:rPr>
                <a:solidFill>
                  <a:srgbClr val="94A3B8"/>
                </a:solidFill>
              </a:rPr>
              <a:t>Ensures the agent prioritizes multi-month terminal wealth compounding rather than myopic single-day gains.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058400" cy="320040"/>
          </a:xfrm>
          <a:prstGeom prst="rect">
            <a:avLst/>
          </a:prstGeom>
          <a:noFill/>
        </p:spPr>
        <p:txBody>
          <a:bodyPr wrap="square" lIns="0" tIns="0" rIns="0" bIns="0">
            <a:spAutoFit/>
          </a:bodyPr>
          <a:lstStyle/>
          <a:p>
            <a:pPr>
              <a:defRPr sz="1100" b="1">
                <a:solidFill>
                  <a:srgbClr val="0EA5E9"/>
                </a:solidFill>
                <a:latin typeface="Arial"/>
              </a:defRPr>
            </a:pPr>
            <a:r>
              <a:t>DATASET &amp; PREPROCESSING</a:t>
            </a:r>
          </a:p>
        </p:txBody>
      </p:sp>
      <p:sp>
        <p:nvSpPr>
          <p:cNvPr id="4" name="TextBox 3"/>
          <p:cNvSpPr txBox="1"/>
          <p:nvPr/>
        </p:nvSpPr>
        <p:spPr>
          <a:xfrm>
            <a:off x="731520" y="658368"/>
            <a:ext cx="10515600" cy="548640"/>
          </a:xfrm>
          <a:prstGeom prst="rect">
            <a:avLst/>
          </a:prstGeom>
          <a:noFill/>
        </p:spPr>
        <p:txBody>
          <a:bodyPr wrap="square" lIns="0" tIns="0" rIns="0" bIns="0">
            <a:spAutoFit/>
          </a:bodyPr>
          <a:lstStyle/>
          <a:p>
            <a:pPr>
              <a:defRPr sz="2200" b="1">
                <a:solidFill>
                  <a:srgbClr val="F8FAFC"/>
                </a:solidFill>
                <a:latin typeface="Arial"/>
              </a:defRPr>
            </a:pPr>
            <a:r>
              <a:t>Data Pipeline &amp; Exploratory Data Analysis (34-Year Dataset)</a:t>
            </a:r>
          </a:p>
        </p:txBody>
      </p:sp>
      <p:sp>
        <p:nvSpPr>
          <p:cNvPr id="5" name="Rounded Rectangle 4"/>
          <p:cNvSpPr/>
          <p:nvPr/>
        </p:nvSpPr>
        <p:spPr>
          <a:xfrm>
            <a:off x="731520" y="1463040"/>
            <a:ext cx="5486400" cy="475488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645920"/>
            <a:ext cx="5029200" cy="365760"/>
          </a:xfrm>
          <a:prstGeom prst="rect">
            <a:avLst/>
          </a:prstGeom>
          <a:noFill/>
        </p:spPr>
        <p:txBody>
          <a:bodyPr wrap="square" lIns="0" tIns="0" rIns="0" bIns="0">
            <a:spAutoFit/>
          </a:bodyPr>
          <a:lstStyle/>
          <a:p>
            <a:pPr>
              <a:defRPr sz="1400" b="1">
                <a:solidFill>
                  <a:srgbClr val="0EA5E9"/>
                </a:solidFill>
                <a:latin typeface="Arial"/>
              </a:defRPr>
            </a:pPr>
            <a:r>
              <a:t>Multi-Decade Dataset &amp; Temporal Partitioning</a:t>
            </a:r>
          </a:p>
        </p:txBody>
      </p:sp>
      <p:sp>
        <p:nvSpPr>
          <p:cNvPr id="7" name="TextBox 6"/>
          <p:cNvSpPr txBox="1"/>
          <p:nvPr/>
        </p:nvSpPr>
        <p:spPr>
          <a:xfrm>
            <a:off x="960120" y="2011680"/>
            <a:ext cx="5029200" cy="3931920"/>
          </a:xfrm>
          <a:prstGeom prst="rect">
            <a:avLst/>
          </a:prstGeom>
          <a:noFill/>
        </p:spPr>
        <p:txBody>
          <a:bodyPr wrap="square" lIns="0" tIns="0" rIns="0" bIns="0">
            <a:spAutoFit/>
          </a:bodyPr>
          <a:lstStyle/>
          <a:p>
            <a:pPr>
              <a:spcAft>
                <a:spcPts val="800"/>
              </a:spcAft>
              <a:defRPr sz="1200">
                <a:latin typeface="Arial"/>
              </a:defRPr>
            </a:pPr>
            <a:r>
              <a:rPr b="1">
                <a:solidFill>
                  <a:srgbClr val="F8FAFC"/>
                </a:solidFill>
              </a:rPr>
              <a:t>Global Multi-Asset Scope: </a:t>
            </a:r>
            <a:r>
              <a:rPr>
                <a:solidFill>
                  <a:srgbClr val="94A3B8"/>
                </a:solidFill>
              </a:rPr>
              <a:t>Covers 34 years of daily market history (1987-2022) across three distinct economic engines:</a:t>
            </a:r>
          </a:p>
          <a:p>
            <a:pPr>
              <a:spcAft>
                <a:spcPts val="800"/>
              </a:spcAft>
              <a:defRPr sz="1200">
                <a:latin typeface="Arial"/>
              </a:defRPr>
            </a:pPr>
            <a:r>
              <a:rPr b="1">
                <a:solidFill>
                  <a:srgbClr val="F8FAFC"/>
                </a:solidFill>
              </a:rPr>
              <a:t>S&amp;P 500 (sp500): </a:t>
            </a:r>
            <a:r>
              <a:rPr>
                <a:solidFill>
                  <a:srgbClr val="94A3B8"/>
                </a:solidFill>
              </a:rPr>
              <a:t>US large-cap technology and broad market growth engine.</a:t>
            </a:r>
          </a:p>
          <a:p>
            <a:pPr>
              <a:spcAft>
                <a:spcPts val="800"/>
              </a:spcAft>
              <a:defRPr sz="1200">
                <a:latin typeface="Arial"/>
              </a:defRPr>
            </a:pPr>
            <a:r>
              <a:rPr b="1">
                <a:solidFill>
                  <a:srgbClr val="F8FAFC"/>
                </a:solidFill>
              </a:rPr>
              <a:t>Dow Jones (djia): </a:t>
            </a:r>
            <a:r>
              <a:rPr>
                <a:solidFill>
                  <a:srgbClr val="94A3B8"/>
                </a:solidFill>
              </a:rPr>
              <a:t>US blue-chip industrial, defensive value foundation.</a:t>
            </a:r>
          </a:p>
          <a:p>
            <a:pPr>
              <a:spcAft>
                <a:spcPts val="800"/>
              </a:spcAft>
              <a:defRPr sz="1200">
                <a:latin typeface="Arial"/>
              </a:defRPr>
            </a:pPr>
            <a:r>
              <a:rPr b="1">
                <a:solidFill>
                  <a:srgbClr val="F8FAFC"/>
                </a:solidFill>
              </a:rPr>
              <a:t>Hang Seng Index (hsi): </a:t>
            </a:r>
            <a:r>
              <a:rPr>
                <a:solidFill>
                  <a:srgbClr val="94A3B8"/>
                </a:solidFill>
              </a:rPr>
              <a:t>Asian equities market, providing non-aligned geopolitical and temporal diversification.</a:t>
            </a:r>
          </a:p>
          <a:p>
            <a:pPr>
              <a:spcAft>
                <a:spcPts val="800"/>
              </a:spcAft>
              <a:defRPr sz="1200">
                <a:latin typeface="Arial"/>
              </a:defRPr>
            </a:pPr>
            <a:r>
              <a:rPr b="1">
                <a:solidFill>
                  <a:srgbClr val="F8FAFC"/>
                </a:solidFill>
              </a:rPr>
              <a:t>Strict Temporal Train Split: </a:t>
            </a:r>
            <a:r>
              <a:rPr>
                <a:solidFill>
                  <a:srgbClr val="94A3B8"/>
                </a:solidFill>
              </a:rPr>
              <a:t>7,812 trading days (~1987 to 2018) reserved strictly for model training.</a:t>
            </a:r>
          </a:p>
          <a:p>
            <a:pPr>
              <a:spcAft>
                <a:spcPts val="800"/>
              </a:spcAft>
              <a:defRPr sz="1200">
                <a:latin typeface="Arial"/>
              </a:defRPr>
            </a:pPr>
            <a:r>
              <a:rPr b="1">
                <a:solidFill>
                  <a:srgbClr val="F8FAFC"/>
                </a:solidFill>
              </a:rPr>
              <a:t>Validation Split: </a:t>
            </a:r>
            <a:r>
              <a:rPr>
                <a:solidFill>
                  <a:srgbClr val="94A3B8"/>
                </a:solidFill>
              </a:rPr>
              <a:t>Intermediate sequence used for hyperparameter tuning and early stopping.</a:t>
            </a:r>
          </a:p>
          <a:p>
            <a:pPr>
              <a:spcAft>
                <a:spcPts val="800"/>
              </a:spcAft>
              <a:defRPr sz="1200">
                <a:latin typeface="Arial"/>
              </a:defRPr>
            </a:pPr>
            <a:r>
              <a:rPr b="1">
                <a:solidFill>
                  <a:srgbClr val="F8FAFC"/>
                </a:solidFill>
              </a:rPr>
              <a:t>Test Split (281 Days): </a:t>
            </a:r>
            <a:r>
              <a:rPr>
                <a:solidFill>
                  <a:srgbClr val="94A3B8"/>
                </a:solidFill>
              </a:rPr>
              <a:t>Completely untouched forward test period used for out-of-sample evaluation.</a:t>
            </a:r>
          </a:p>
          <a:p>
            <a:pPr>
              <a:spcAft>
                <a:spcPts val="800"/>
              </a:spcAft>
              <a:defRPr sz="1200">
                <a:latin typeface="Arial"/>
              </a:defRPr>
            </a:pPr>
            <a:r>
              <a:rPr b="1">
                <a:solidFill>
                  <a:srgbClr val="F8FAFC"/>
                </a:solidFill>
              </a:rPr>
              <a:t>Leakage Prevention: </a:t>
            </a:r>
            <a:r>
              <a:rPr>
                <a:solidFill>
                  <a:srgbClr val="94A3B8"/>
                </a:solidFill>
              </a:rPr>
              <a:t>Zero look-ahead bias; standard scalers and indicators fit strictly on historical windows.</a:t>
            </a:r>
          </a:p>
        </p:txBody>
      </p:sp>
      <p:pic>
        <p:nvPicPr>
          <p:cNvPr id="8" name="Picture 7" descr="correlation_matrix.png"/>
          <p:cNvPicPr>
            <a:picLocks noChangeAspect="1"/>
          </p:cNvPicPr>
          <p:nvPr/>
        </p:nvPicPr>
        <p:blipFill>
          <a:blip r:embed="rId2"/>
          <a:stretch>
            <a:fillRect/>
          </a:stretch>
        </p:blipFill>
        <p:spPr>
          <a:xfrm>
            <a:off x="6492240" y="1463040"/>
            <a:ext cx="4937760" cy="41148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058400" cy="320040"/>
          </a:xfrm>
          <a:prstGeom prst="rect">
            <a:avLst/>
          </a:prstGeom>
          <a:noFill/>
        </p:spPr>
        <p:txBody>
          <a:bodyPr wrap="square" lIns="0" tIns="0" rIns="0" bIns="0">
            <a:spAutoFit/>
          </a:bodyPr>
          <a:lstStyle/>
          <a:p>
            <a:pPr>
              <a:defRPr sz="1100" b="1">
                <a:solidFill>
                  <a:srgbClr val="0EA5E9"/>
                </a:solidFill>
                <a:latin typeface="Arial"/>
              </a:defRPr>
            </a:pPr>
            <a:r>
              <a:t>METHODOLOGY &amp; ARCHITECTURES</a:t>
            </a:r>
          </a:p>
        </p:txBody>
      </p:sp>
      <p:sp>
        <p:nvSpPr>
          <p:cNvPr id="4" name="TextBox 3"/>
          <p:cNvSpPr txBox="1"/>
          <p:nvPr/>
        </p:nvSpPr>
        <p:spPr>
          <a:xfrm>
            <a:off x="731520" y="658368"/>
            <a:ext cx="10515600" cy="548640"/>
          </a:xfrm>
          <a:prstGeom prst="rect">
            <a:avLst/>
          </a:prstGeom>
          <a:noFill/>
        </p:spPr>
        <p:txBody>
          <a:bodyPr wrap="square" lIns="0" tIns="0" rIns="0" bIns="0">
            <a:spAutoFit/>
          </a:bodyPr>
          <a:lstStyle/>
          <a:p>
            <a:pPr>
              <a:defRPr sz="2200" b="1">
                <a:solidFill>
                  <a:srgbClr val="F8FAFC"/>
                </a:solidFill>
                <a:latin typeface="Arial"/>
              </a:defRPr>
            </a:pPr>
            <a:r>
              <a:t>Deep RL Architectures: Value-Based vs. Policy-Gradient</a:t>
            </a:r>
          </a:p>
        </p:txBody>
      </p:sp>
      <p:sp>
        <p:nvSpPr>
          <p:cNvPr id="5" name="Rounded Rectangle 4"/>
          <p:cNvSpPr/>
          <p:nvPr/>
        </p:nvSpPr>
        <p:spPr>
          <a:xfrm>
            <a:off x="731520" y="1463040"/>
            <a:ext cx="3383280" cy="475488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645920"/>
            <a:ext cx="2926080" cy="365760"/>
          </a:xfrm>
          <a:prstGeom prst="rect">
            <a:avLst/>
          </a:prstGeom>
          <a:noFill/>
        </p:spPr>
        <p:txBody>
          <a:bodyPr wrap="square" lIns="0" tIns="0" rIns="0" bIns="0">
            <a:spAutoFit/>
          </a:bodyPr>
          <a:lstStyle/>
          <a:p>
            <a:pPr>
              <a:defRPr sz="1400" b="1">
                <a:solidFill>
                  <a:srgbClr val="0EA5E9"/>
                </a:solidFill>
                <a:latin typeface="Arial"/>
              </a:defRPr>
            </a:pPr>
            <a:r>
              <a:t>1. Deep Q-Network (DQN)</a:t>
            </a:r>
          </a:p>
        </p:txBody>
      </p:sp>
      <p:sp>
        <p:nvSpPr>
          <p:cNvPr id="7" name="TextBox 6"/>
          <p:cNvSpPr txBox="1"/>
          <p:nvPr/>
        </p:nvSpPr>
        <p:spPr>
          <a:xfrm>
            <a:off x="960120" y="2011680"/>
            <a:ext cx="2926080" cy="3931920"/>
          </a:xfrm>
          <a:prstGeom prst="rect">
            <a:avLst/>
          </a:prstGeom>
          <a:noFill/>
        </p:spPr>
        <p:txBody>
          <a:bodyPr wrap="square" lIns="0" tIns="0" rIns="0" bIns="0">
            <a:spAutoFit/>
          </a:bodyPr>
          <a:lstStyle/>
          <a:p>
            <a:pPr>
              <a:spcAft>
                <a:spcPts val="800"/>
              </a:spcAft>
              <a:defRPr sz="1200">
                <a:latin typeface="Arial"/>
              </a:defRPr>
            </a:pPr>
            <a:r>
              <a:rPr b="1">
                <a:solidFill>
                  <a:srgbClr val="F8FAFC"/>
                </a:solidFill>
              </a:rPr>
              <a:t>Paradigm: </a:t>
            </a:r>
            <a:r>
              <a:rPr>
                <a:solidFill>
                  <a:srgbClr val="94A3B8"/>
                </a:solidFill>
              </a:rPr>
              <a:t>Value-based temporal difference learning.</a:t>
            </a:r>
          </a:p>
          <a:p>
            <a:pPr>
              <a:spcAft>
                <a:spcPts val="800"/>
              </a:spcAft>
              <a:defRPr sz="1200">
                <a:latin typeface="Arial"/>
              </a:defRPr>
            </a:pPr>
            <a:r>
              <a:rPr b="1">
                <a:solidFill>
                  <a:srgbClr val="F8FAFC"/>
                </a:solidFill>
              </a:rPr>
              <a:t>Q-Approximator: </a:t>
            </a:r>
            <a:r>
              <a:rPr>
                <a:solidFill>
                  <a:srgbClr val="94A3B8"/>
                </a:solidFill>
              </a:rPr>
              <a:t>Multi-layer perceptron estimating Q(s, a; theta) over 27 discretized allocation classes.</a:t>
            </a:r>
          </a:p>
          <a:p>
            <a:pPr>
              <a:spcAft>
                <a:spcPts val="800"/>
              </a:spcAft>
              <a:defRPr sz="1200">
                <a:latin typeface="Arial"/>
              </a:defRPr>
            </a:pPr>
            <a:r>
              <a:rPr b="1">
                <a:solidFill>
                  <a:srgbClr val="F8FAFC"/>
                </a:solidFill>
              </a:rPr>
              <a:t>Experience Replay: </a:t>
            </a:r>
            <a:r>
              <a:rPr>
                <a:solidFill>
                  <a:srgbClr val="94A3B8"/>
                </a:solidFill>
              </a:rPr>
              <a:t>50,000 transition replay buffer decorrelates consecutive market steps.</a:t>
            </a:r>
          </a:p>
          <a:p>
            <a:pPr>
              <a:spcAft>
                <a:spcPts val="800"/>
              </a:spcAft>
              <a:defRPr sz="1200">
                <a:latin typeface="Arial"/>
              </a:defRPr>
            </a:pPr>
            <a:r>
              <a:rPr b="1">
                <a:solidFill>
                  <a:srgbClr val="F8FAFC"/>
                </a:solidFill>
              </a:rPr>
              <a:t>Target Network: </a:t>
            </a:r>
            <a:r>
              <a:rPr>
                <a:solidFill>
                  <a:srgbClr val="94A3B8"/>
                </a:solidFill>
              </a:rPr>
              <a:t>Decoupled periodic target update prevents feedback divergence.</a:t>
            </a:r>
          </a:p>
          <a:p>
            <a:pPr>
              <a:spcAft>
                <a:spcPts val="800"/>
              </a:spcAft>
              <a:defRPr sz="1200">
                <a:latin typeface="Arial"/>
              </a:defRPr>
            </a:pPr>
            <a:r>
              <a:rPr b="1">
                <a:solidFill>
                  <a:srgbClr val="F8FAFC"/>
                </a:solidFill>
              </a:rPr>
              <a:t>Limitation: </a:t>
            </a:r>
            <a:r>
              <a:rPr>
                <a:solidFill>
                  <a:srgbClr val="94A3B8"/>
                </a:solidFill>
              </a:rPr>
              <a:t>Discretization forces step-function portfolio weight jumps, increasing turnover friction.</a:t>
            </a:r>
          </a:p>
        </p:txBody>
      </p:sp>
      <p:sp>
        <p:nvSpPr>
          <p:cNvPr id="8" name="Rounded Rectangle 7"/>
          <p:cNvSpPr/>
          <p:nvPr/>
        </p:nvSpPr>
        <p:spPr>
          <a:xfrm>
            <a:off x="4389120" y="1463040"/>
            <a:ext cx="3383280" cy="4754880"/>
          </a:xfrm>
          <a:prstGeom prst="roundRect">
            <a:avLst/>
          </a:prstGeom>
          <a:solidFill>
            <a:srgbClr val="1E29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17720" y="1645920"/>
            <a:ext cx="2926080" cy="365760"/>
          </a:xfrm>
          <a:prstGeom prst="rect">
            <a:avLst/>
          </a:prstGeom>
          <a:noFill/>
        </p:spPr>
        <p:txBody>
          <a:bodyPr wrap="square" lIns="0" tIns="0" rIns="0" bIns="0">
            <a:spAutoFit/>
          </a:bodyPr>
          <a:lstStyle/>
          <a:p>
            <a:pPr>
              <a:defRPr sz="1400" b="1">
                <a:solidFill>
                  <a:srgbClr val="0EA5E9"/>
                </a:solidFill>
                <a:latin typeface="Arial"/>
              </a:defRPr>
            </a:pPr>
            <a:r>
              <a:t>2. Advantage Actor-Critic (A2C)</a:t>
            </a:r>
          </a:p>
        </p:txBody>
      </p:sp>
      <p:sp>
        <p:nvSpPr>
          <p:cNvPr id="10" name="TextBox 9"/>
          <p:cNvSpPr txBox="1"/>
          <p:nvPr/>
        </p:nvSpPr>
        <p:spPr>
          <a:xfrm>
            <a:off x="4617720" y="2011680"/>
            <a:ext cx="2926080" cy="3931920"/>
          </a:xfrm>
          <a:prstGeom prst="rect">
            <a:avLst/>
          </a:prstGeom>
          <a:noFill/>
        </p:spPr>
        <p:txBody>
          <a:bodyPr wrap="square" lIns="0" tIns="0" rIns="0" bIns="0">
            <a:spAutoFit/>
          </a:bodyPr>
          <a:lstStyle/>
          <a:p>
            <a:pPr>
              <a:spcAft>
                <a:spcPts val="800"/>
              </a:spcAft>
              <a:defRPr sz="1200">
                <a:latin typeface="Arial"/>
              </a:defRPr>
            </a:pPr>
            <a:r>
              <a:rPr b="1">
                <a:solidFill>
                  <a:srgbClr val="F8FAFC"/>
                </a:solidFill>
              </a:rPr>
              <a:t>Paradigm: </a:t>
            </a:r>
            <a:r>
              <a:rPr>
                <a:solidFill>
                  <a:srgbClr val="94A3B8"/>
                </a:solidFill>
              </a:rPr>
              <a:t>Synchronous on-policy Actor-Critic architecture.</a:t>
            </a:r>
          </a:p>
          <a:p>
            <a:pPr>
              <a:spcAft>
                <a:spcPts val="800"/>
              </a:spcAft>
              <a:defRPr sz="1200">
                <a:latin typeface="Arial"/>
              </a:defRPr>
            </a:pPr>
            <a:r>
              <a:rPr b="1">
                <a:solidFill>
                  <a:srgbClr val="F8FAFC"/>
                </a:solidFill>
              </a:rPr>
              <a:t>Actor Network: </a:t>
            </a:r>
            <a:r>
              <a:rPr>
                <a:solidFill>
                  <a:srgbClr val="94A3B8"/>
                </a:solidFill>
              </a:rPr>
              <a:t>Outputs mean parameters mu(s) of a continuous Gaussian distribution for asset weights.</a:t>
            </a:r>
          </a:p>
          <a:p>
            <a:pPr>
              <a:spcAft>
                <a:spcPts val="800"/>
              </a:spcAft>
              <a:defRPr sz="1200">
                <a:latin typeface="Arial"/>
              </a:defRPr>
            </a:pPr>
            <a:r>
              <a:rPr b="1">
                <a:solidFill>
                  <a:srgbClr val="F8FAFC"/>
                </a:solidFill>
              </a:rPr>
              <a:t>Critic Network: </a:t>
            </a:r>
            <a:r>
              <a:rPr>
                <a:solidFill>
                  <a:srgbClr val="94A3B8"/>
                </a:solidFill>
              </a:rPr>
              <a:t>Estimates baseline state-value V(s) to compute Advantage: A(s, a) = Q(s, a) - V(s).</a:t>
            </a:r>
          </a:p>
          <a:p>
            <a:pPr>
              <a:spcAft>
                <a:spcPts val="800"/>
              </a:spcAft>
              <a:defRPr sz="1200">
                <a:latin typeface="Arial"/>
              </a:defRPr>
            </a:pPr>
            <a:r>
              <a:rPr b="1">
                <a:solidFill>
                  <a:srgbClr val="F8FAFC"/>
                </a:solidFill>
              </a:rPr>
              <a:t>Advantage Estimation: </a:t>
            </a:r>
            <a:r>
              <a:rPr>
                <a:solidFill>
                  <a:srgbClr val="94A3B8"/>
                </a:solidFill>
              </a:rPr>
              <a:t>Reduces policy gradient variance while keeping bias minimal.</a:t>
            </a:r>
          </a:p>
          <a:p>
            <a:pPr>
              <a:spcAft>
                <a:spcPts val="800"/>
              </a:spcAft>
              <a:defRPr sz="1200">
                <a:latin typeface="Arial"/>
              </a:defRPr>
            </a:pPr>
            <a:r>
              <a:rPr b="1">
                <a:solidFill>
                  <a:srgbClr val="F8FAFC"/>
                </a:solidFill>
              </a:rPr>
              <a:t>Continuous Execution: </a:t>
            </a:r>
            <a:r>
              <a:rPr>
                <a:solidFill>
                  <a:srgbClr val="94A3B8"/>
                </a:solidFill>
              </a:rPr>
              <a:t>Enables micro-rebalancing without paying full discrete-step fees.</a:t>
            </a:r>
          </a:p>
        </p:txBody>
      </p:sp>
      <p:sp>
        <p:nvSpPr>
          <p:cNvPr id="11" name="Rounded Rectangle 10"/>
          <p:cNvSpPr/>
          <p:nvPr/>
        </p:nvSpPr>
        <p:spPr>
          <a:xfrm>
            <a:off x="8046720" y="1463040"/>
            <a:ext cx="3383280" cy="475488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75320" y="1645920"/>
            <a:ext cx="2926080" cy="365760"/>
          </a:xfrm>
          <a:prstGeom prst="rect">
            <a:avLst/>
          </a:prstGeom>
          <a:noFill/>
        </p:spPr>
        <p:txBody>
          <a:bodyPr wrap="square" lIns="0" tIns="0" rIns="0" bIns="0">
            <a:spAutoFit/>
          </a:bodyPr>
          <a:lstStyle/>
          <a:p>
            <a:pPr>
              <a:defRPr sz="1400" b="1">
                <a:solidFill>
                  <a:srgbClr val="0EA5E9"/>
                </a:solidFill>
                <a:latin typeface="Arial"/>
              </a:defRPr>
            </a:pPr>
            <a:r>
              <a:t>3. Proximal Policy Optimization (PPO)</a:t>
            </a:r>
          </a:p>
        </p:txBody>
      </p:sp>
      <p:sp>
        <p:nvSpPr>
          <p:cNvPr id="13" name="TextBox 12"/>
          <p:cNvSpPr txBox="1"/>
          <p:nvPr/>
        </p:nvSpPr>
        <p:spPr>
          <a:xfrm>
            <a:off x="8275320" y="2011680"/>
            <a:ext cx="2926080" cy="3931920"/>
          </a:xfrm>
          <a:prstGeom prst="rect">
            <a:avLst/>
          </a:prstGeom>
          <a:noFill/>
        </p:spPr>
        <p:txBody>
          <a:bodyPr wrap="square" lIns="0" tIns="0" rIns="0" bIns="0">
            <a:spAutoFit/>
          </a:bodyPr>
          <a:lstStyle/>
          <a:p>
            <a:pPr>
              <a:spcAft>
                <a:spcPts val="800"/>
              </a:spcAft>
              <a:defRPr sz="1200">
                <a:latin typeface="Arial"/>
              </a:defRPr>
            </a:pPr>
            <a:r>
              <a:rPr b="1">
                <a:solidFill>
                  <a:srgbClr val="F8FAFC"/>
                </a:solidFill>
              </a:rPr>
              <a:t>Paradigm: </a:t>
            </a:r>
            <a:r>
              <a:rPr>
                <a:solidFill>
                  <a:srgbClr val="94A3B8"/>
                </a:solidFill>
              </a:rPr>
              <a:t>Trust-region policy gradient with clipped objective.</a:t>
            </a:r>
          </a:p>
          <a:p>
            <a:pPr>
              <a:spcAft>
                <a:spcPts val="800"/>
              </a:spcAft>
              <a:defRPr sz="1200">
                <a:latin typeface="Arial"/>
              </a:defRPr>
            </a:pPr>
            <a:r>
              <a:rPr b="1">
                <a:solidFill>
                  <a:srgbClr val="F8FAFC"/>
                </a:solidFill>
              </a:rPr>
              <a:t>Clipped Surrogate Loss: </a:t>
            </a:r>
            <a:r>
              <a:rPr>
                <a:solidFill>
                  <a:srgbClr val="94A3B8"/>
                </a:solidFill>
              </a:rPr>
              <a:t>L^CLIP(theta) = E[min(r_t * A_t, clip(r_t, 1-eps, 1+eps) * A_t)].</a:t>
            </a:r>
          </a:p>
          <a:p>
            <a:pPr>
              <a:spcAft>
                <a:spcPts val="800"/>
              </a:spcAft>
              <a:defRPr sz="1200">
                <a:latin typeface="Arial"/>
              </a:defRPr>
            </a:pPr>
            <a:r>
              <a:rPr b="1">
                <a:solidFill>
                  <a:srgbClr val="F8FAFC"/>
                </a:solidFill>
              </a:rPr>
              <a:t>Clipping Parameter: </a:t>
            </a:r>
            <a:r>
              <a:rPr>
                <a:solidFill>
                  <a:srgbClr val="94A3B8"/>
                </a:solidFill>
              </a:rPr>
              <a:t>eps = 0.2 bounds policy update ratios r_t(theta) = pi_theta(a|s) / pi_old(a|s).</a:t>
            </a:r>
          </a:p>
          <a:p>
            <a:pPr>
              <a:spcAft>
                <a:spcPts val="800"/>
              </a:spcAft>
              <a:defRPr sz="1200">
                <a:latin typeface="Arial"/>
              </a:defRPr>
            </a:pPr>
            <a:r>
              <a:rPr b="1">
                <a:solidFill>
                  <a:srgbClr val="F8FAFC"/>
                </a:solidFill>
              </a:rPr>
              <a:t>Variance Reduction: </a:t>
            </a:r>
            <a:r>
              <a:rPr>
                <a:solidFill>
                  <a:srgbClr val="94A3B8"/>
                </a:solidFill>
              </a:rPr>
              <a:t>Generalized Advantage Estimation (GAE) with lambda = 0.95.</a:t>
            </a:r>
          </a:p>
          <a:p>
            <a:pPr>
              <a:spcAft>
                <a:spcPts val="800"/>
              </a:spcAft>
              <a:defRPr sz="1200">
                <a:latin typeface="Arial"/>
              </a:defRPr>
            </a:pPr>
            <a:r>
              <a:rPr b="1">
                <a:solidFill>
                  <a:srgbClr val="F8FAFC"/>
                </a:solidFill>
              </a:rPr>
              <a:t>Behavior: </a:t>
            </a:r>
            <a:r>
              <a:rPr>
                <a:solidFill>
                  <a:srgbClr val="94A3B8"/>
                </a:solidFill>
              </a:rPr>
              <a:t>Guarantees monotonic policy improvement but leans conservative in financial volatility.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058400" cy="320040"/>
          </a:xfrm>
          <a:prstGeom prst="rect">
            <a:avLst/>
          </a:prstGeom>
          <a:noFill/>
        </p:spPr>
        <p:txBody>
          <a:bodyPr wrap="square" lIns="0" tIns="0" rIns="0" bIns="0">
            <a:spAutoFit/>
          </a:bodyPr>
          <a:lstStyle/>
          <a:p>
            <a:pPr>
              <a:defRPr sz="1100" b="1">
                <a:solidFill>
                  <a:srgbClr val="0EA5E9"/>
                </a:solidFill>
                <a:latin typeface="Arial"/>
              </a:defRPr>
            </a:pPr>
            <a:r>
              <a:t>EXPERIMENTAL SETUP</a:t>
            </a:r>
          </a:p>
        </p:txBody>
      </p:sp>
      <p:sp>
        <p:nvSpPr>
          <p:cNvPr id="4" name="TextBox 3"/>
          <p:cNvSpPr txBox="1"/>
          <p:nvPr/>
        </p:nvSpPr>
        <p:spPr>
          <a:xfrm>
            <a:off x="731520" y="658368"/>
            <a:ext cx="10515600" cy="548640"/>
          </a:xfrm>
          <a:prstGeom prst="rect">
            <a:avLst/>
          </a:prstGeom>
          <a:noFill/>
        </p:spPr>
        <p:txBody>
          <a:bodyPr wrap="square" lIns="0" tIns="0" rIns="0" bIns="0">
            <a:spAutoFit/>
          </a:bodyPr>
          <a:lstStyle/>
          <a:p>
            <a:pPr>
              <a:defRPr sz="2200" b="1">
                <a:solidFill>
                  <a:srgbClr val="F8FAFC"/>
                </a:solidFill>
                <a:latin typeface="Arial"/>
              </a:defRPr>
            </a:pPr>
            <a:r>
              <a:t>Training Pipeline, Hyperparameters &amp; Convergence Dynamics</a:t>
            </a:r>
          </a:p>
        </p:txBody>
      </p:sp>
      <p:sp>
        <p:nvSpPr>
          <p:cNvPr id="5" name="Rounded Rectangle 4"/>
          <p:cNvSpPr/>
          <p:nvPr/>
        </p:nvSpPr>
        <p:spPr>
          <a:xfrm>
            <a:off x="731520" y="1463040"/>
            <a:ext cx="5120640" cy="475488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645920"/>
            <a:ext cx="4663440" cy="365760"/>
          </a:xfrm>
          <a:prstGeom prst="rect">
            <a:avLst/>
          </a:prstGeom>
          <a:noFill/>
        </p:spPr>
        <p:txBody>
          <a:bodyPr wrap="square" lIns="0" tIns="0" rIns="0" bIns="0">
            <a:spAutoFit/>
          </a:bodyPr>
          <a:lstStyle/>
          <a:p>
            <a:pPr>
              <a:defRPr sz="1400" b="1">
                <a:solidFill>
                  <a:srgbClr val="0EA5E9"/>
                </a:solidFill>
                <a:latin typeface="Arial"/>
              </a:defRPr>
            </a:pPr>
            <a:r>
              <a:t>Hyperparameter Specifications</a:t>
            </a:r>
          </a:p>
        </p:txBody>
      </p:sp>
      <p:sp>
        <p:nvSpPr>
          <p:cNvPr id="7" name="TextBox 6"/>
          <p:cNvSpPr txBox="1"/>
          <p:nvPr/>
        </p:nvSpPr>
        <p:spPr>
          <a:xfrm>
            <a:off x="960120" y="2011680"/>
            <a:ext cx="4663440" cy="3931920"/>
          </a:xfrm>
          <a:prstGeom prst="rect">
            <a:avLst/>
          </a:prstGeom>
          <a:noFill/>
        </p:spPr>
        <p:txBody>
          <a:bodyPr wrap="square" lIns="0" tIns="0" rIns="0" bIns="0">
            <a:spAutoFit/>
          </a:bodyPr>
          <a:lstStyle/>
          <a:p>
            <a:pPr>
              <a:spcAft>
                <a:spcPts val="800"/>
              </a:spcAft>
              <a:defRPr sz="1200">
                <a:latin typeface="Arial"/>
              </a:defRPr>
            </a:pPr>
            <a:r>
              <a:rPr b="1">
                <a:solidFill>
                  <a:srgbClr val="F8FAFC"/>
                </a:solidFill>
              </a:rPr>
              <a:t>Interaction Scale: </a:t>
            </a:r>
            <a:r>
              <a:rPr>
                <a:solidFill>
                  <a:srgbClr val="94A3B8"/>
                </a:solidFill>
              </a:rPr>
              <a:t>150,000 steps per algorithm (450,000 total market interactions).</a:t>
            </a:r>
          </a:p>
          <a:p>
            <a:pPr>
              <a:spcAft>
                <a:spcPts val="800"/>
              </a:spcAft>
              <a:defRPr sz="1200">
                <a:latin typeface="Arial"/>
              </a:defRPr>
            </a:pPr>
            <a:r>
              <a:rPr b="1">
                <a:solidFill>
                  <a:srgbClr val="F8FAFC"/>
                </a:solidFill>
              </a:rPr>
              <a:t>Hardware Acceleration: </a:t>
            </a:r>
            <a:r>
              <a:rPr>
                <a:solidFill>
                  <a:srgbClr val="94A3B8"/>
                </a:solidFill>
              </a:rPr>
              <a:t>CUDA PyTorch GPU training pipeline (NVIDIA Tensor Core architecture).</a:t>
            </a:r>
          </a:p>
          <a:p>
            <a:pPr>
              <a:spcAft>
                <a:spcPts val="800"/>
              </a:spcAft>
              <a:defRPr sz="1200">
                <a:latin typeface="Arial"/>
              </a:defRPr>
            </a:pPr>
            <a:r>
              <a:rPr b="1">
                <a:solidFill>
                  <a:srgbClr val="F8FAFC"/>
                </a:solidFill>
              </a:rPr>
              <a:t>Discount Factor (gamma = 0.99): </a:t>
            </a:r>
            <a:r>
              <a:rPr>
                <a:solidFill>
                  <a:srgbClr val="94A3B8"/>
                </a:solidFill>
              </a:rPr>
              <a:t>Enforces multi-month terminal growth horizon.</a:t>
            </a:r>
          </a:p>
          <a:p>
            <a:pPr>
              <a:spcAft>
                <a:spcPts val="800"/>
              </a:spcAft>
              <a:defRPr sz="1200">
                <a:latin typeface="Arial"/>
              </a:defRPr>
            </a:pPr>
            <a:r>
              <a:rPr b="1">
                <a:solidFill>
                  <a:srgbClr val="F8FAFC"/>
                </a:solidFill>
              </a:rPr>
              <a:t>Optimizer: </a:t>
            </a:r>
            <a:r>
              <a:rPr>
                <a:solidFill>
                  <a:srgbClr val="94A3B8"/>
                </a:solidFill>
              </a:rPr>
              <a:t>Adam (beta_1 = 0.9, beta_2 = 0.999, eps = 1e-8).</a:t>
            </a:r>
          </a:p>
          <a:p>
            <a:pPr>
              <a:spcAft>
                <a:spcPts val="800"/>
              </a:spcAft>
              <a:defRPr sz="1200">
                <a:latin typeface="Arial"/>
              </a:defRPr>
            </a:pPr>
            <a:r>
              <a:rPr b="1">
                <a:solidFill>
                  <a:srgbClr val="F8FAFC"/>
                </a:solidFill>
              </a:rPr>
              <a:t>DQN Parameters: </a:t>
            </a:r>
            <a:r>
              <a:rPr>
                <a:solidFill>
                  <a:srgbClr val="94A3B8"/>
                </a:solidFill>
              </a:rPr>
              <a:t>LR = 1e-4, Replay = 50,000, Exploration eps = 1.0 -&gt; 0.05, Target update = 1,000.</a:t>
            </a:r>
          </a:p>
          <a:p>
            <a:pPr>
              <a:spcAft>
                <a:spcPts val="800"/>
              </a:spcAft>
              <a:defRPr sz="1200">
                <a:latin typeface="Arial"/>
              </a:defRPr>
            </a:pPr>
            <a:r>
              <a:rPr b="1">
                <a:solidFill>
                  <a:srgbClr val="F8FAFC"/>
                </a:solidFill>
              </a:rPr>
              <a:t>A2C Parameters: </a:t>
            </a:r>
            <a:r>
              <a:rPr>
                <a:solidFill>
                  <a:srgbClr val="94A3B8"/>
                </a:solidFill>
              </a:rPr>
              <a:t>LR = 7e-4, Entropy coef = 0.01, Value coef = 0.5, RMSprop/Adam hybrid.</a:t>
            </a:r>
          </a:p>
          <a:p>
            <a:pPr>
              <a:spcAft>
                <a:spcPts val="800"/>
              </a:spcAft>
              <a:defRPr sz="1200">
                <a:latin typeface="Arial"/>
              </a:defRPr>
            </a:pPr>
            <a:r>
              <a:rPr b="1">
                <a:solidFill>
                  <a:srgbClr val="F8FAFC"/>
                </a:solidFill>
              </a:rPr>
              <a:t>PPO Parameters: </a:t>
            </a:r>
            <a:r>
              <a:rPr>
                <a:solidFill>
                  <a:srgbClr val="94A3B8"/>
                </a:solidFill>
              </a:rPr>
              <a:t>LR = 3e-4, Rollout buffer = 2,048, Batch size = 64, Clip eps = 0.2, Epochs = 10.</a:t>
            </a:r>
          </a:p>
        </p:txBody>
      </p:sp>
      <p:sp>
        <p:nvSpPr>
          <p:cNvPr id="8" name="Rounded Rectangle 7"/>
          <p:cNvSpPr/>
          <p:nvPr/>
        </p:nvSpPr>
        <p:spPr>
          <a:xfrm>
            <a:off x="6217920" y="1463040"/>
            <a:ext cx="5212080" cy="4754880"/>
          </a:xfrm>
          <a:prstGeom prst="roundRect">
            <a:avLst/>
          </a:prstGeom>
          <a:solidFill>
            <a:srgbClr val="1E293B"/>
          </a:solidFill>
          <a:ln w="1905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46520" y="1645920"/>
            <a:ext cx="4754880" cy="365760"/>
          </a:xfrm>
          <a:prstGeom prst="rect">
            <a:avLst/>
          </a:prstGeom>
          <a:noFill/>
        </p:spPr>
        <p:txBody>
          <a:bodyPr wrap="square" lIns="0" tIns="0" rIns="0" bIns="0">
            <a:spAutoFit/>
          </a:bodyPr>
          <a:lstStyle/>
          <a:p>
            <a:pPr>
              <a:defRPr sz="1400" b="1">
                <a:solidFill>
                  <a:srgbClr val="0EA5E9"/>
                </a:solidFill>
                <a:latin typeface="Arial"/>
              </a:defRPr>
            </a:pPr>
            <a:r>
              <a:t>Training Convergence &amp; Stability Observations</a:t>
            </a:r>
          </a:p>
        </p:txBody>
      </p:sp>
      <p:sp>
        <p:nvSpPr>
          <p:cNvPr id="10" name="TextBox 9"/>
          <p:cNvSpPr txBox="1"/>
          <p:nvPr/>
        </p:nvSpPr>
        <p:spPr>
          <a:xfrm>
            <a:off x="6446520" y="2011680"/>
            <a:ext cx="4754880" cy="3931920"/>
          </a:xfrm>
          <a:prstGeom prst="rect">
            <a:avLst/>
          </a:prstGeom>
          <a:noFill/>
        </p:spPr>
        <p:txBody>
          <a:bodyPr wrap="square" lIns="0" tIns="0" rIns="0" bIns="0">
            <a:spAutoFit/>
          </a:bodyPr>
          <a:lstStyle/>
          <a:p>
            <a:pPr>
              <a:spcAft>
                <a:spcPts val="800"/>
              </a:spcAft>
              <a:defRPr sz="1200">
                <a:latin typeface="Arial"/>
              </a:defRPr>
            </a:pPr>
            <a:r>
              <a:rPr b="1">
                <a:solidFill>
                  <a:srgbClr val="F8FAFC"/>
                </a:solidFill>
              </a:rPr>
              <a:t>Entropy Decay Monitoring: </a:t>
            </a:r>
            <a:r>
              <a:rPr>
                <a:solidFill>
                  <a:srgbClr val="94A3B8"/>
                </a:solidFill>
              </a:rPr>
              <a:t>Monitored policy entropy decay from -4.3 to -3.7, verifying that exploration smoothly transitioned into focused portfolio exploitation.</a:t>
            </a:r>
          </a:p>
          <a:p>
            <a:pPr>
              <a:spcAft>
                <a:spcPts val="800"/>
              </a:spcAft>
              <a:defRPr sz="1200">
                <a:latin typeface="Arial"/>
              </a:defRPr>
            </a:pPr>
            <a:r>
              <a:rPr b="1">
                <a:solidFill>
                  <a:srgbClr val="F8FAFC"/>
                </a:solidFill>
              </a:rPr>
              <a:t>Critic Value Loss Convergence: </a:t>
            </a:r>
            <a:r>
              <a:rPr>
                <a:solidFill>
                  <a:srgbClr val="94A3B8"/>
                </a:solidFill>
              </a:rPr>
              <a:t>Critic MSE loss stabilized below 0.001 within the first 30,000 steps, providing accurate baseline value estimates.</a:t>
            </a:r>
          </a:p>
          <a:p>
            <a:pPr>
              <a:spcAft>
                <a:spcPts val="800"/>
              </a:spcAft>
              <a:defRPr sz="1200">
                <a:latin typeface="Arial"/>
              </a:defRPr>
            </a:pPr>
            <a:r>
              <a:rPr b="1">
                <a:solidFill>
                  <a:srgbClr val="F8FAFC"/>
                </a:solidFill>
              </a:rPr>
              <a:t>DQN TD-Loss Behavior: </a:t>
            </a:r>
            <a:r>
              <a:rPr>
                <a:solidFill>
                  <a:srgbClr val="94A3B8"/>
                </a:solidFill>
              </a:rPr>
              <a:t>DQN exhibited high bellman loss variance due to discrete state switching under market volatility.</a:t>
            </a:r>
          </a:p>
          <a:p>
            <a:pPr>
              <a:spcAft>
                <a:spcPts val="800"/>
              </a:spcAft>
              <a:defRPr sz="1200">
                <a:latin typeface="Arial"/>
              </a:defRPr>
            </a:pPr>
            <a:r>
              <a:rPr b="1">
                <a:solidFill>
                  <a:srgbClr val="F8FAFC"/>
                </a:solidFill>
              </a:rPr>
              <a:t>Model Checkpointing: </a:t>
            </a:r>
            <a:r>
              <a:rPr>
                <a:solidFill>
                  <a:srgbClr val="94A3B8"/>
                </a:solidFill>
              </a:rPr>
              <a:t>Full model weights serialized and saved as DQN_portfolio.zip, A2C_portfolio.zip, and PPO_portfolio.zip.</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058400" cy="320040"/>
          </a:xfrm>
          <a:prstGeom prst="rect">
            <a:avLst/>
          </a:prstGeom>
          <a:noFill/>
        </p:spPr>
        <p:txBody>
          <a:bodyPr wrap="square" lIns="0" tIns="0" rIns="0" bIns="0">
            <a:spAutoFit/>
          </a:bodyPr>
          <a:lstStyle/>
          <a:p>
            <a:pPr>
              <a:defRPr sz="1100" b="1">
                <a:solidFill>
                  <a:srgbClr val="0EA5E9"/>
                </a:solidFill>
                <a:latin typeface="Arial"/>
              </a:defRPr>
            </a:pPr>
            <a:r>
              <a:t>RESULTS &amp; BENCHMARKING</a:t>
            </a:r>
          </a:p>
        </p:txBody>
      </p:sp>
      <p:sp>
        <p:nvSpPr>
          <p:cNvPr id="4" name="TextBox 3"/>
          <p:cNvSpPr txBox="1"/>
          <p:nvPr/>
        </p:nvSpPr>
        <p:spPr>
          <a:xfrm>
            <a:off x="731520" y="658368"/>
            <a:ext cx="10515600" cy="548640"/>
          </a:xfrm>
          <a:prstGeom prst="rect">
            <a:avLst/>
          </a:prstGeom>
          <a:noFill/>
        </p:spPr>
        <p:txBody>
          <a:bodyPr wrap="square" lIns="0" tIns="0" rIns="0" bIns="0">
            <a:spAutoFit/>
          </a:bodyPr>
          <a:lstStyle/>
          <a:p>
            <a:pPr>
              <a:defRPr sz="2200" b="1">
                <a:solidFill>
                  <a:srgbClr val="F8FAFC"/>
                </a:solidFill>
                <a:latin typeface="Arial"/>
              </a:defRPr>
            </a:pPr>
            <a:r>
              <a:t>Empirical Results: Test Set Benchmark Evaluation (281 Days)</a:t>
            </a:r>
          </a:p>
        </p:txBody>
      </p:sp>
      <p:graphicFrame>
        <p:nvGraphicFramePr>
          <p:cNvPr id="5" name="Table 4"/>
          <p:cNvGraphicFramePr>
            <a:graphicFrameLocks noGrp="1"/>
          </p:cNvGraphicFramePr>
          <p:nvPr/>
        </p:nvGraphicFramePr>
        <p:xfrm>
          <a:off x="731520" y="1463040"/>
          <a:ext cx="5486400" cy="2377440"/>
        </p:xfrm>
        <a:graphic>
          <a:graphicData uri="http://schemas.openxmlformats.org/drawingml/2006/table">
            <a:tbl>
              <a:tblPr firstRow="1" bandRow="1">
                <a:tableStyleId>{5C22544A-7EE6-4342-B048-85BDC9FD1C3A}</a:tableStyleId>
              </a:tblPr>
              <a:tblGrid>
                <a:gridCol w="914400"/>
                <a:gridCol w="914400"/>
                <a:gridCol w="914400"/>
                <a:gridCol w="914400"/>
                <a:gridCol w="914400"/>
                <a:gridCol w="914400"/>
              </a:tblGrid>
              <a:tr h="475488">
                <a:tc>
                  <a:txBody>
                    <a:bodyPr/>
                    <a:lstStyle/>
                    <a:p>
                      <a:pPr algn="ctr">
                        <a:defRPr b="1" sz="1000">
                          <a:solidFill>
                            <a:srgbClr val="0F172A"/>
                          </a:solidFill>
                        </a:defRPr>
                      </a:pPr>
                      <a:r>
                        <a:t>Model / Strategy</a:t>
                      </a:r>
                    </a:p>
                  </a:txBody>
                  <a:tcPr>
                    <a:solidFill>
                      <a:srgbClr val="0EA5E9"/>
                    </a:solidFill>
                  </a:tcPr>
                </a:tc>
                <a:tc>
                  <a:txBody>
                    <a:bodyPr/>
                    <a:lstStyle/>
                    <a:p>
                      <a:pPr algn="ctr">
                        <a:defRPr b="1" sz="1000">
                          <a:solidFill>
                            <a:srgbClr val="0F172A"/>
                          </a:solidFill>
                        </a:defRPr>
                      </a:pPr>
                      <a:r>
                        <a:t>Final Value</a:t>
                      </a:r>
                    </a:p>
                  </a:txBody>
                  <a:tcPr>
                    <a:solidFill>
                      <a:srgbClr val="0EA5E9"/>
                    </a:solidFill>
                  </a:tcPr>
                </a:tc>
                <a:tc>
                  <a:txBody>
                    <a:bodyPr/>
                    <a:lstStyle/>
                    <a:p>
                      <a:pPr algn="ctr">
                        <a:defRPr b="1" sz="1000">
                          <a:solidFill>
                            <a:srgbClr val="0F172A"/>
                          </a:solidFill>
                        </a:defRPr>
                      </a:pPr>
                      <a:r>
                        <a:t>Return (%)</a:t>
                      </a:r>
                    </a:p>
                  </a:txBody>
                  <a:tcPr>
                    <a:solidFill>
                      <a:srgbClr val="0EA5E9"/>
                    </a:solidFill>
                  </a:tcPr>
                </a:tc>
                <a:tc>
                  <a:txBody>
                    <a:bodyPr/>
                    <a:lstStyle/>
                    <a:p>
                      <a:pPr algn="ctr">
                        <a:defRPr b="1" sz="1000">
                          <a:solidFill>
                            <a:srgbClr val="0F172A"/>
                          </a:solidFill>
                        </a:defRPr>
                      </a:pPr>
                      <a:r>
                        <a:t>CAGR</a:t>
                      </a:r>
                    </a:p>
                  </a:txBody>
                  <a:tcPr>
                    <a:solidFill>
                      <a:srgbClr val="0EA5E9"/>
                    </a:solidFill>
                  </a:tcPr>
                </a:tc>
                <a:tc>
                  <a:txBody>
                    <a:bodyPr/>
                    <a:lstStyle/>
                    <a:p>
                      <a:pPr algn="ctr">
                        <a:defRPr b="1" sz="1000">
                          <a:solidFill>
                            <a:srgbClr val="0F172A"/>
                          </a:solidFill>
                        </a:defRPr>
                      </a:pPr>
                      <a:r>
                        <a:t>Sharpe</a:t>
                      </a:r>
                    </a:p>
                  </a:txBody>
                  <a:tcPr>
                    <a:solidFill>
                      <a:srgbClr val="0EA5E9"/>
                    </a:solidFill>
                  </a:tcPr>
                </a:tc>
                <a:tc>
                  <a:txBody>
                    <a:bodyPr/>
                    <a:lstStyle/>
                    <a:p>
                      <a:pPr algn="ctr">
                        <a:defRPr b="1" sz="1000">
                          <a:solidFill>
                            <a:srgbClr val="0F172A"/>
                          </a:solidFill>
                        </a:defRPr>
                      </a:pPr>
                      <a:r>
                        <a:t>Max DD</a:t>
                      </a:r>
                    </a:p>
                  </a:txBody>
                  <a:tcPr>
                    <a:solidFill>
                      <a:srgbClr val="0EA5E9"/>
                    </a:solidFill>
                  </a:tcPr>
                </a:tc>
              </a:tr>
              <a:tr h="475488">
                <a:tc>
                  <a:txBody>
                    <a:bodyPr/>
                    <a:lstStyle/>
                    <a:p>
                      <a:pPr algn="l">
                        <a:defRPr sz="950" b="1">
                          <a:solidFill>
                            <a:srgbClr val="F8FAFC"/>
                          </a:solidFill>
                        </a:defRPr>
                      </a:pPr>
                      <a:r>
                        <a:t>🥇 A2C (Actor-Critic)</a:t>
                      </a:r>
                    </a:p>
                  </a:txBody>
                  <a:tcPr>
                    <a:solidFill>
                      <a:srgbClr val="10B981"/>
                    </a:solidFill>
                  </a:tcPr>
                </a:tc>
                <a:tc>
                  <a:txBody>
                    <a:bodyPr/>
                    <a:lstStyle/>
                    <a:p>
                      <a:pPr algn="ctr">
                        <a:defRPr sz="950" b="1">
                          <a:solidFill>
                            <a:srgbClr val="F8FAFC"/>
                          </a:solidFill>
                        </a:defRPr>
                      </a:pPr>
                      <a:r>
                        <a:t>$116,105</a:t>
                      </a:r>
                    </a:p>
                  </a:txBody>
                  <a:tcPr>
                    <a:solidFill>
                      <a:srgbClr val="1E293B"/>
                    </a:solidFill>
                  </a:tcPr>
                </a:tc>
                <a:tc>
                  <a:txBody>
                    <a:bodyPr/>
                    <a:lstStyle/>
                    <a:p>
                      <a:pPr algn="ctr">
                        <a:defRPr sz="950" b="1">
                          <a:solidFill>
                            <a:srgbClr val="F8FAFC"/>
                          </a:solidFill>
                        </a:defRPr>
                      </a:pPr>
                      <a:r>
                        <a:t>+16.11%</a:t>
                      </a:r>
                    </a:p>
                  </a:txBody>
                  <a:tcPr>
                    <a:solidFill>
                      <a:srgbClr val="1E293B"/>
                    </a:solidFill>
                  </a:tcPr>
                </a:tc>
                <a:tc>
                  <a:txBody>
                    <a:bodyPr/>
                    <a:lstStyle/>
                    <a:p>
                      <a:pPr algn="ctr">
                        <a:defRPr sz="950" b="1">
                          <a:solidFill>
                            <a:srgbClr val="F8FAFC"/>
                          </a:solidFill>
                        </a:defRPr>
                      </a:pPr>
                      <a:r>
                        <a:t>+14.33%</a:t>
                      </a:r>
                    </a:p>
                  </a:txBody>
                  <a:tcPr>
                    <a:solidFill>
                      <a:srgbClr val="1E293B"/>
                    </a:solidFill>
                  </a:tcPr>
                </a:tc>
                <a:tc>
                  <a:txBody>
                    <a:bodyPr/>
                    <a:lstStyle/>
                    <a:p>
                      <a:pPr algn="ctr">
                        <a:defRPr sz="950" b="1">
                          <a:solidFill>
                            <a:srgbClr val="F8FAFC"/>
                          </a:solidFill>
                        </a:defRPr>
                      </a:pPr>
                      <a:r>
                        <a:t>1.26</a:t>
                      </a:r>
                    </a:p>
                  </a:txBody>
                  <a:tcPr>
                    <a:solidFill>
                      <a:srgbClr val="1E293B"/>
                    </a:solidFill>
                  </a:tcPr>
                </a:tc>
                <a:tc>
                  <a:txBody>
                    <a:bodyPr/>
                    <a:lstStyle/>
                    <a:p>
                      <a:pPr algn="ctr">
                        <a:defRPr sz="950" b="1">
                          <a:solidFill>
                            <a:srgbClr val="F8FAFC"/>
                          </a:solidFill>
                        </a:defRPr>
                      </a:pPr>
                      <a:r>
                        <a:t>-9.02%</a:t>
                      </a:r>
                    </a:p>
                  </a:txBody>
                  <a:tcPr>
                    <a:solidFill>
                      <a:srgbClr val="1E293B"/>
                    </a:solidFill>
                  </a:tcPr>
                </a:tc>
              </a:tr>
              <a:tr h="475488">
                <a:tc>
                  <a:txBody>
                    <a:bodyPr/>
                    <a:lstStyle/>
                    <a:p>
                      <a:pPr algn="l">
                        <a:defRPr sz="950" b="0">
                          <a:solidFill>
                            <a:srgbClr val="F8FAFC"/>
                          </a:solidFill>
                        </a:defRPr>
                      </a:pPr>
                      <a:r>
                        <a:t>Equal-Weight Base</a:t>
                      </a:r>
                    </a:p>
                  </a:txBody>
                  <a:tcPr>
                    <a:solidFill>
                      <a:srgbClr val="26334A"/>
                    </a:solidFill>
                  </a:tcPr>
                </a:tc>
                <a:tc>
                  <a:txBody>
                    <a:bodyPr/>
                    <a:lstStyle/>
                    <a:p>
                      <a:pPr algn="ctr">
                        <a:defRPr sz="950" b="0">
                          <a:solidFill>
                            <a:srgbClr val="F8FAFC"/>
                          </a:solidFill>
                        </a:defRPr>
                      </a:pPr>
                      <a:r>
                        <a:t>$108,656</a:t>
                      </a:r>
                    </a:p>
                  </a:txBody>
                  <a:tcPr>
                    <a:solidFill>
                      <a:srgbClr val="26334A"/>
                    </a:solidFill>
                  </a:tcPr>
                </a:tc>
                <a:tc>
                  <a:txBody>
                    <a:bodyPr/>
                    <a:lstStyle/>
                    <a:p>
                      <a:pPr algn="ctr">
                        <a:defRPr sz="950" b="0">
                          <a:solidFill>
                            <a:srgbClr val="F8FAFC"/>
                          </a:solidFill>
                        </a:defRPr>
                      </a:pPr>
                      <a:r>
                        <a:t>+8.66%</a:t>
                      </a:r>
                    </a:p>
                  </a:txBody>
                  <a:tcPr>
                    <a:solidFill>
                      <a:srgbClr val="26334A"/>
                    </a:solidFill>
                  </a:tcPr>
                </a:tc>
                <a:tc>
                  <a:txBody>
                    <a:bodyPr/>
                    <a:lstStyle/>
                    <a:p>
                      <a:pPr algn="ctr">
                        <a:defRPr sz="950" b="0">
                          <a:solidFill>
                            <a:srgbClr val="F8FAFC"/>
                          </a:solidFill>
                        </a:defRPr>
                      </a:pPr>
                      <a:r>
                        <a:t>+7.67%</a:t>
                      </a:r>
                    </a:p>
                  </a:txBody>
                  <a:tcPr>
                    <a:solidFill>
                      <a:srgbClr val="26334A"/>
                    </a:solidFill>
                  </a:tcPr>
                </a:tc>
                <a:tc>
                  <a:txBody>
                    <a:bodyPr/>
                    <a:lstStyle/>
                    <a:p>
                      <a:pPr algn="ctr">
                        <a:defRPr sz="950" b="0">
                          <a:solidFill>
                            <a:srgbClr val="F8FAFC"/>
                          </a:solidFill>
                        </a:defRPr>
                      </a:pPr>
                      <a:r>
                        <a:t>0.70</a:t>
                      </a:r>
                    </a:p>
                  </a:txBody>
                  <a:tcPr>
                    <a:solidFill>
                      <a:srgbClr val="26334A"/>
                    </a:solidFill>
                  </a:tcPr>
                </a:tc>
                <a:tc>
                  <a:txBody>
                    <a:bodyPr/>
                    <a:lstStyle/>
                    <a:p>
                      <a:pPr algn="ctr">
                        <a:defRPr sz="950" b="0">
                          <a:solidFill>
                            <a:srgbClr val="F8FAFC"/>
                          </a:solidFill>
                        </a:defRPr>
                      </a:pPr>
                      <a:r>
                        <a:t>-10.87%</a:t>
                      </a:r>
                    </a:p>
                  </a:txBody>
                  <a:tcPr>
                    <a:solidFill>
                      <a:srgbClr val="26334A"/>
                    </a:solidFill>
                  </a:tcPr>
                </a:tc>
              </a:tr>
              <a:tr h="475488">
                <a:tc>
                  <a:txBody>
                    <a:bodyPr/>
                    <a:lstStyle/>
                    <a:p>
                      <a:pPr algn="l">
                        <a:defRPr sz="950" b="0">
                          <a:solidFill>
                            <a:srgbClr val="F8FAFC"/>
                          </a:solidFill>
                        </a:defRPr>
                      </a:pPr>
                      <a:r>
                        <a:t>🥈 PPO (Proximal Policy)</a:t>
                      </a:r>
                    </a:p>
                  </a:txBody>
                  <a:tcPr>
                    <a:solidFill>
                      <a:srgbClr val="1E293B"/>
                    </a:solidFill>
                  </a:tcPr>
                </a:tc>
                <a:tc>
                  <a:txBody>
                    <a:bodyPr/>
                    <a:lstStyle/>
                    <a:p>
                      <a:pPr algn="ctr">
                        <a:defRPr sz="950" b="0">
                          <a:solidFill>
                            <a:srgbClr val="F8FAFC"/>
                          </a:solidFill>
                        </a:defRPr>
                      </a:pPr>
                      <a:r>
                        <a:t>$106,595</a:t>
                      </a:r>
                    </a:p>
                  </a:txBody>
                  <a:tcPr>
                    <a:solidFill>
                      <a:srgbClr val="1E293B"/>
                    </a:solidFill>
                  </a:tcPr>
                </a:tc>
                <a:tc>
                  <a:txBody>
                    <a:bodyPr/>
                    <a:lstStyle/>
                    <a:p>
                      <a:pPr algn="ctr">
                        <a:defRPr sz="950" b="0">
                          <a:solidFill>
                            <a:srgbClr val="F8FAFC"/>
                          </a:solidFill>
                        </a:defRPr>
                      </a:pPr>
                      <a:r>
                        <a:t>+6.60%</a:t>
                      </a:r>
                    </a:p>
                  </a:txBody>
                  <a:tcPr>
                    <a:solidFill>
                      <a:srgbClr val="1E293B"/>
                    </a:solidFill>
                  </a:tcPr>
                </a:tc>
                <a:tc>
                  <a:txBody>
                    <a:bodyPr/>
                    <a:lstStyle/>
                    <a:p>
                      <a:pPr algn="ctr">
                        <a:defRPr sz="950" b="0">
                          <a:solidFill>
                            <a:srgbClr val="F8FAFC"/>
                          </a:solidFill>
                        </a:defRPr>
                      </a:pPr>
                      <a:r>
                        <a:t>+5.89%</a:t>
                      </a:r>
                    </a:p>
                  </a:txBody>
                  <a:tcPr>
                    <a:solidFill>
                      <a:srgbClr val="1E293B"/>
                    </a:solidFill>
                  </a:tcPr>
                </a:tc>
                <a:tc>
                  <a:txBody>
                    <a:bodyPr/>
                    <a:lstStyle/>
                    <a:p>
                      <a:pPr algn="ctr">
                        <a:defRPr sz="950" b="0">
                          <a:solidFill>
                            <a:srgbClr val="F8FAFC"/>
                          </a:solidFill>
                        </a:defRPr>
                      </a:pPr>
                      <a:r>
                        <a:t>0.56</a:t>
                      </a:r>
                    </a:p>
                  </a:txBody>
                  <a:tcPr>
                    <a:solidFill>
                      <a:srgbClr val="1E293B"/>
                    </a:solidFill>
                  </a:tcPr>
                </a:tc>
                <a:tc>
                  <a:txBody>
                    <a:bodyPr/>
                    <a:lstStyle/>
                    <a:p>
                      <a:pPr algn="ctr">
                        <a:defRPr sz="950" b="0">
                          <a:solidFill>
                            <a:srgbClr val="F8FAFC"/>
                          </a:solidFill>
                        </a:defRPr>
                      </a:pPr>
                      <a:r>
                        <a:t>-10.87%</a:t>
                      </a:r>
                    </a:p>
                  </a:txBody>
                  <a:tcPr>
                    <a:solidFill>
                      <a:srgbClr val="1E293B"/>
                    </a:solidFill>
                  </a:tcPr>
                </a:tc>
              </a:tr>
              <a:tr h="475488">
                <a:tc>
                  <a:txBody>
                    <a:bodyPr/>
                    <a:lstStyle/>
                    <a:p>
                      <a:pPr algn="l">
                        <a:defRPr sz="950" b="0">
                          <a:solidFill>
                            <a:srgbClr val="F8FAFC"/>
                          </a:solidFill>
                        </a:defRPr>
                      </a:pPr>
                      <a:r>
                        <a:t>🥉 DQN (Discrete)</a:t>
                      </a:r>
                    </a:p>
                  </a:txBody>
                  <a:tcPr>
                    <a:solidFill>
                      <a:srgbClr val="26334A"/>
                    </a:solidFill>
                  </a:tcPr>
                </a:tc>
                <a:tc>
                  <a:txBody>
                    <a:bodyPr/>
                    <a:lstStyle/>
                    <a:p>
                      <a:pPr algn="ctr">
                        <a:defRPr sz="950" b="0">
                          <a:solidFill>
                            <a:srgbClr val="F8FAFC"/>
                          </a:solidFill>
                        </a:defRPr>
                      </a:pPr>
                      <a:r>
                        <a:t>$101,846</a:t>
                      </a:r>
                    </a:p>
                  </a:txBody>
                  <a:tcPr>
                    <a:solidFill>
                      <a:srgbClr val="26334A"/>
                    </a:solidFill>
                  </a:tcPr>
                </a:tc>
                <a:tc>
                  <a:txBody>
                    <a:bodyPr/>
                    <a:lstStyle/>
                    <a:p>
                      <a:pPr algn="ctr">
                        <a:defRPr sz="950" b="0">
                          <a:solidFill>
                            <a:srgbClr val="F8FAFC"/>
                          </a:solidFill>
                        </a:defRPr>
                      </a:pPr>
                      <a:r>
                        <a:t>+1.85%</a:t>
                      </a:r>
                    </a:p>
                  </a:txBody>
                  <a:tcPr>
                    <a:solidFill>
                      <a:srgbClr val="26334A"/>
                    </a:solidFill>
                  </a:tcPr>
                </a:tc>
                <a:tc>
                  <a:txBody>
                    <a:bodyPr/>
                    <a:lstStyle/>
                    <a:p>
                      <a:pPr algn="ctr">
                        <a:defRPr sz="950" b="0">
                          <a:solidFill>
                            <a:srgbClr val="F8FAFC"/>
                          </a:solidFill>
                        </a:defRPr>
                      </a:pPr>
                      <a:r>
                        <a:t>+1.65%</a:t>
                      </a:r>
                    </a:p>
                  </a:txBody>
                  <a:tcPr>
                    <a:solidFill>
                      <a:srgbClr val="26334A"/>
                    </a:solidFill>
                  </a:tcPr>
                </a:tc>
                <a:tc>
                  <a:txBody>
                    <a:bodyPr/>
                    <a:lstStyle/>
                    <a:p>
                      <a:pPr algn="ctr">
                        <a:defRPr sz="950" b="0">
                          <a:solidFill>
                            <a:srgbClr val="F8FAFC"/>
                          </a:solidFill>
                        </a:defRPr>
                      </a:pPr>
                      <a:r>
                        <a:t>0.19</a:t>
                      </a:r>
                    </a:p>
                  </a:txBody>
                  <a:tcPr>
                    <a:solidFill>
                      <a:srgbClr val="26334A"/>
                    </a:solidFill>
                  </a:tcPr>
                </a:tc>
                <a:tc>
                  <a:txBody>
                    <a:bodyPr/>
                    <a:lstStyle/>
                    <a:p>
                      <a:pPr algn="ctr">
                        <a:defRPr sz="950" b="0">
                          <a:solidFill>
                            <a:srgbClr val="F8FAFC"/>
                          </a:solidFill>
                        </a:defRPr>
                      </a:pPr>
                      <a:r>
                        <a:t>-12.40%</a:t>
                      </a:r>
                    </a:p>
                  </a:txBody>
                  <a:tcPr>
                    <a:solidFill>
                      <a:srgbClr val="26334A"/>
                    </a:solidFill>
                  </a:tcPr>
                </a:tc>
              </a:tr>
            </a:tbl>
          </a:graphicData>
        </a:graphic>
      </p:graphicFrame>
      <p:sp>
        <p:nvSpPr>
          <p:cNvPr id="6" name="Rounded Rectangle 5"/>
          <p:cNvSpPr/>
          <p:nvPr/>
        </p:nvSpPr>
        <p:spPr>
          <a:xfrm>
            <a:off x="731520" y="4114800"/>
            <a:ext cx="5486400" cy="2194560"/>
          </a:xfrm>
          <a:prstGeom prst="roundRect">
            <a:avLst/>
          </a:prstGeom>
          <a:solidFill>
            <a:srgbClr val="1E29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4297680"/>
            <a:ext cx="5029200" cy="365760"/>
          </a:xfrm>
          <a:prstGeom prst="rect">
            <a:avLst/>
          </a:prstGeom>
          <a:noFill/>
        </p:spPr>
        <p:txBody>
          <a:bodyPr wrap="square" lIns="0" tIns="0" rIns="0" bIns="0">
            <a:spAutoFit/>
          </a:bodyPr>
          <a:lstStyle/>
          <a:p>
            <a:pPr>
              <a:defRPr sz="1400" b="1">
                <a:solidFill>
                  <a:srgbClr val="0EA5E9"/>
                </a:solidFill>
                <a:latin typeface="Arial"/>
              </a:defRPr>
            </a:pPr>
            <a:r>
              <a:t>Core Empirical Takeaways</a:t>
            </a:r>
          </a:p>
        </p:txBody>
      </p:sp>
      <p:sp>
        <p:nvSpPr>
          <p:cNvPr id="8" name="TextBox 7"/>
          <p:cNvSpPr txBox="1"/>
          <p:nvPr/>
        </p:nvSpPr>
        <p:spPr>
          <a:xfrm>
            <a:off x="960120" y="4572000"/>
            <a:ext cx="5029200" cy="1554480"/>
          </a:xfrm>
          <a:prstGeom prst="rect">
            <a:avLst/>
          </a:prstGeom>
          <a:noFill/>
        </p:spPr>
        <p:txBody>
          <a:bodyPr wrap="square" lIns="0" tIns="0" rIns="0" bIns="0">
            <a:spAutoFit/>
          </a:bodyPr>
          <a:lstStyle/>
          <a:p>
            <a:pPr>
              <a:spcAft>
                <a:spcPts val="800"/>
              </a:spcAft>
              <a:defRPr sz="1200">
                <a:latin typeface="Arial"/>
              </a:defRPr>
            </a:pPr>
            <a:r>
              <a:rPr b="1">
                <a:solidFill>
                  <a:srgbClr val="F8FAFC"/>
                </a:solidFill>
              </a:rPr>
              <a:t>Alpha Outperformance: </a:t>
            </a:r>
            <a:r>
              <a:rPr>
                <a:solidFill>
                  <a:srgbClr val="94A3B8"/>
                </a:solidFill>
              </a:rPr>
              <a:t>A2C generated nearly 2x the return of the Equal-Weight market baseline (+16.11% vs +8.66%).</a:t>
            </a:r>
          </a:p>
          <a:p>
            <a:pPr>
              <a:spcAft>
                <a:spcPts val="800"/>
              </a:spcAft>
              <a:defRPr sz="1200">
                <a:latin typeface="Arial"/>
              </a:defRPr>
            </a:pPr>
            <a:r>
              <a:rPr b="1">
                <a:solidFill>
                  <a:srgbClr val="F8FAFC"/>
                </a:solidFill>
              </a:rPr>
              <a:t>Institutional Quality: </a:t>
            </a:r>
            <a:r>
              <a:rPr>
                <a:solidFill>
                  <a:srgbClr val="94A3B8"/>
                </a:solidFill>
              </a:rPr>
              <a:t>A2C achieved a 1.26 Sharpe Ratio, exceeding the 1.0 hedge-fund benchmark threshold.</a:t>
            </a:r>
          </a:p>
          <a:p>
            <a:pPr>
              <a:spcAft>
                <a:spcPts val="800"/>
              </a:spcAft>
              <a:defRPr sz="1200">
                <a:latin typeface="Arial"/>
              </a:defRPr>
            </a:pPr>
            <a:r>
              <a:rPr b="1">
                <a:solidFill>
                  <a:srgbClr val="F8FAFC"/>
                </a:solidFill>
              </a:rPr>
              <a:t>Risk Reduction: </a:t>
            </a:r>
            <a:r>
              <a:rPr>
                <a:solidFill>
                  <a:srgbClr val="94A3B8"/>
                </a:solidFill>
              </a:rPr>
              <a:t>A2C held max drawdown to -9.02%, significantly outperforming the market's -10.87% drop.</a:t>
            </a:r>
          </a:p>
        </p:txBody>
      </p:sp>
      <p:pic>
        <p:nvPicPr>
          <p:cNvPr id="9" name="Picture 8" descr="portfolio_growth.png"/>
          <p:cNvPicPr>
            <a:picLocks noChangeAspect="1"/>
          </p:cNvPicPr>
          <p:nvPr/>
        </p:nvPicPr>
        <p:blipFill>
          <a:blip r:embed="rId2"/>
          <a:stretch>
            <a:fillRect/>
          </a:stretch>
        </p:blipFill>
        <p:spPr>
          <a:xfrm>
            <a:off x="6492240" y="1463040"/>
            <a:ext cx="4937760" cy="246888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058400" cy="320040"/>
          </a:xfrm>
          <a:prstGeom prst="rect">
            <a:avLst/>
          </a:prstGeom>
          <a:noFill/>
        </p:spPr>
        <p:txBody>
          <a:bodyPr wrap="square" lIns="0" tIns="0" rIns="0" bIns="0">
            <a:spAutoFit/>
          </a:bodyPr>
          <a:lstStyle/>
          <a:p>
            <a:pPr>
              <a:defRPr sz="1100" b="1">
                <a:solidFill>
                  <a:srgbClr val="0EA5E9"/>
                </a:solidFill>
                <a:latin typeface="Arial"/>
              </a:defRPr>
            </a:pPr>
            <a:r>
              <a:t>ANALYSIS &amp; INSIGHTS</a:t>
            </a:r>
          </a:p>
        </p:txBody>
      </p:sp>
      <p:sp>
        <p:nvSpPr>
          <p:cNvPr id="4" name="TextBox 3"/>
          <p:cNvSpPr txBox="1"/>
          <p:nvPr/>
        </p:nvSpPr>
        <p:spPr>
          <a:xfrm>
            <a:off x="731520" y="658368"/>
            <a:ext cx="10515600" cy="548640"/>
          </a:xfrm>
          <a:prstGeom prst="rect">
            <a:avLst/>
          </a:prstGeom>
          <a:noFill/>
        </p:spPr>
        <p:txBody>
          <a:bodyPr wrap="square" lIns="0" tIns="0" rIns="0" bIns="0">
            <a:spAutoFit/>
          </a:bodyPr>
          <a:lstStyle/>
          <a:p>
            <a:pPr>
              <a:defRPr sz="2200" b="1">
                <a:solidFill>
                  <a:srgbClr val="F8FAFC"/>
                </a:solidFill>
                <a:latin typeface="Arial"/>
              </a:defRPr>
            </a:pPr>
            <a:r>
              <a:t>Architectural Deep-Dive: Why Did A2C Beat DQN &amp; PPO?</a:t>
            </a:r>
          </a:p>
        </p:txBody>
      </p:sp>
      <p:sp>
        <p:nvSpPr>
          <p:cNvPr id="5" name="Rounded Rectangle 4"/>
          <p:cNvSpPr/>
          <p:nvPr/>
        </p:nvSpPr>
        <p:spPr>
          <a:xfrm>
            <a:off x="731520" y="1463040"/>
            <a:ext cx="5486400" cy="475488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645920"/>
            <a:ext cx="5029200" cy="365760"/>
          </a:xfrm>
          <a:prstGeom prst="rect">
            <a:avLst/>
          </a:prstGeom>
          <a:noFill/>
        </p:spPr>
        <p:txBody>
          <a:bodyPr wrap="square" lIns="0" tIns="0" rIns="0" bIns="0">
            <a:spAutoFit/>
          </a:bodyPr>
          <a:lstStyle/>
          <a:p>
            <a:pPr>
              <a:defRPr sz="1400" b="1">
                <a:solidFill>
                  <a:srgbClr val="0EA5E9"/>
                </a:solidFill>
                <a:latin typeface="Arial"/>
              </a:defRPr>
            </a:pPr>
            <a:r>
              <a:t>The Mechanics of Policy Alpha vs Friction</a:t>
            </a:r>
          </a:p>
        </p:txBody>
      </p:sp>
      <p:sp>
        <p:nvSpPr>
          <p:cNvPr id="7" name="TextBox 6"/>
          <p:cNvSpPr txBox="1"/>
          <p:nvPr/>
        </p:nvSpPr>
        <p:spPr>
          <a:xfrm>
            <a:off x="960120" y="2011680"/>
            <a:ext cx="5029200" cy="3931920"/>
          </a:xfrm>
          <a:prstGeom prst="rect">
            <a:avLst/>
          </a:prstGeom>
          <a:noFill/>
        </p:spPr>
        <p:txBody>
          <a:bodyPr wrap="square" lIns="0" tIns="0" rIns="0" bIns="0">
            <a:spAutoFit/>
          </a:bodyPr>
          <a:lstStyle/>
          <a:p>
            <a:pPr>
              <a:spcAft>
                <a:spcPts val="800"/>
              </a:spcAft>
              <a:defRPr sz="1200">
                <a:latin typeface="Arial"/>
              </a:defRPr>
            </a:pPr>
            <a:r>
              <a:rPr b="1">
                <a:solidFill>
                  <a:srgbClr val="F8FAFC"/>
                </a:solidFill>
              </a:rPr>
              <a:t>The 'Discrete Curse' of DQN (+1.85%): </a:t>
            </a:r>
            <a:r>
              <a:rPr>
                <a:solidFill>
                  <a:srgbClr val="94A3B8"/>
                </a:solidFill>
              </a:rPr>
              <a:t>DQN allocates across discrete buckets. Minor shifts in market indicators cause the Q-network to jump between discrete states.</a:t>
            </a:r>
          </a:p>
          <a:p>
            <a:pPr>
              <a:spcAft>
                <a:spcPts val="800"/>
              </a:spcAft>
              <a:defRPr sz="1200">
                <a:latin typeface="Arial"/>
              </a:defRPr>
            </a:pPr>
            <a:r>
              <a:rPr b="1">
                <a:solidFill>
                  <a:srgbClr val="F8FAFC"/>
                </a:solidFill>
              </a:rPr>
              <a:t>High Turnover Friction: </a:t>
            </a:r>
            <a:r>
              <a:rPr>
                <a:solidFill>
                  <a:srgbClr val="94A3B8"/>
                </a:solidFill>
              </a:rPr>
              <a:t>Every discrete jump incur our 0.10% transaction fee. Over 281 days, churn fees eroded DQN's gross return.</a:t>
            </a:r>
          </a:p>
          <a:p>
            <a:pPr>
              <a:spcAft>
                <a:spcPts val="800"/>
              </a:spcAft>
              <a:defRPr sz="1200">
                <a:latin typeface="Arial"/>
              </a:defRPr>
            </a:pPr>
            <a:r>
              <a:rPr b="1">
                <a:solidFill>
                  <a:srgbClr val="F8FAFC"/>
                </a:solidFill>
              </a:rPr>
              <a:t>The Continuous Edge of A2C (+16.11%): </a:t>
            </a:r>
            <a:r>
              <a:rPr>
                <a:solidFill>
                  <a:srgbClr val="94A3B8"/>
                </a:solidFill>
              </a:rPr>
              <a:t>A2C outputs smooth continuous probability vectors, making micro-adjustments that ride asset momentum without generating turnover drag.</a:t>
            </a:r>
          </a:p>
          <a:p>
            <a:pPr>
              <a:spcAft>
                <a:spcPts val="800"/>
              </a:spcAft>
              <a:defRPr sz="1200">
                <a:latin typeface="Arial"/>
              </a:defRPr>
            </a:pPr>
            <a:r>
              <a:rPr b="1">
                <a:solidFill>
                  <a:srgbClr val="F8FAFC"/>
                </a:solidFill>
              </a:rPr>
              <a:t>Optimal Exposure Timing: </a:t>
            </a:r>
            <a:r>
              <a:rPr>
                <a:solidFill>
                  <a:srgbClr val="94A3B8"/>
                </a:solidFill>
              </a:rPr>
              <a:t>A2C systematically favored US equity indices during bull legs and shifted exposure to HSI and cash-equivalents during corrections.</a:t>
            </a:r>
          </a:p>
          <a:p>
            <a:pPr>
              <a:spcAft>
                <a:spcPts val="800"/>
              </a:spcAft>
              <a:defRPr sz="1200">
                <a:latin typeface="Arial"/>
              </a:defRPr>
            </a:pPr>
            <a:r>
              <a:rPr b="1">
                <a:solidFill>
                  <a:srgbClr val="F8FAFC"/>
                </a:solidFill>
              </a:rPr>
              <a:t>PPO's Conservatism (+6.60%): </a:t>
            </a:r>
            <a:r>
              <a:rPr>
                <a:solidFill>
                  <a:srgbClr val="94A3B8"/>
                </a:solidFill>
              </a:rPr>
              <a:t>PPO's clipped surrogate bound [1-eps, 1+eps] prevented radical portfolio shifts, causing it to behave conservatively and mirror equal-weighting.</a:t>
            </a:r>
          </a:p>
        </p:txBody>
      </p:sp>
      <p:pic>
        <p:nvPicPr>
          <p:cNvPr id="8" name="Picture 7" descr="metrics_bars.png"/>
          <p:cNvPicPr>
            <a:picLocks noChangeAspect="1"/>
          </p:cNvPicPr>
          <p:nvPr/>
        </p:nvPicPr>
        <p:blipFill>
          <a:blip r:embed="rId2"/>
          <a:stretch>
            <a:fillRect/>
          </a:stretch>
        </p:blipFill>
        <p:spPr>
          <a:xfrm>
            <a:off x="6492240" y="1463040"/>
            <a:ext cx="4937760" cy="2221992"/>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058400" cy="320040"/>
          </a:xfrm>
          <a:prstGeom prst="rect">
            <a:avLst/>
          </a:prstGeom>
          <a:noFill/>
        </p:spPr>
        <p:txBody>
          <a:bodyPr wrap="square" lIns="0" tIns="0" rIns="0" bIns="0">
            <a:spAutoFit/>
          </a:bodyPr>
          <a:lstStyle/>
          <a:p>
            <a:pPr>
              <a:defRPr sz="1100" b="1">
                <a:solidFill>
                  <a:srgbClr val="0EA5E9"/>
                </a:solidFill>
                <a:latin typeface="Arial"/>
              </a:defRPr>
            </a:pPr>
            <a:r>
              <a:t>RISK MANAGEMENT</a:t>
            </a:r>
          </a:p>
        </p:txBody>
      </p:sp>
      <p:sp>
        <p:nvSpPr>
          <p:cNvPr id="4" name="TextBox 3"/>
          <p:cNvSpPr txBox="1"/>
          <p:nvPr/>
        </p:nvSpPr>
        <p:spPr>
          <a:xfrm>
            <a:off x="731520" y="658368"/>
            <a:ext cx="10515600" cy="548640"/>
          </a:xfrm>
          <a:prstGeom prst="rect">
            <a:avLst/>
          </a:prstGeom>
          <a:noFill/>
        </p:spPr>
        <p:txBody>
          <a:bodyPr wrap="square" lIns="0" tIns="0" rIns="0" bIns="0">
            <a:spAutoFit/>
          </a:bodyPr>
          <a:lstStyle/>
          <a:p>
            <a:pPr>
              <a:defRPr sz="2200" b="1">
                <a:solidFill>
                  <a:srgbClr val="F8FAFC"/>
                </a:solidFill>
                <a:latin typeface="Arial"/>
              </a:defRPr>
            </a:pPr>
            <a:r>
              <a:t>Risk Management: Downside Protection &amp; Capital Preservation</a:t>
            </a:r>
          </a:p>
        </p:txBody>
      </p:sp>
      <p:sp>
        <p:nvSpPr>
          <p:cNvPr id="5" name="Rounded Rectangle 4"/>
          <p:cNvSpPr/>
          <p:nvPr/>
        </p:nvSpPr>
        <p:spPr>
          <a:xfrm>
            <a:off x="731520" y="1463040"/>
            <a:ext cx="5486400" cy="475488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645920"/>
            <a:ext cx="5029200" cy="365760"/>
          </a:xfrm>
          <a:prstGeom prst="rect">
            <a:avLst/>
          </a:prstGeom>
          <a:noFill/>
        </p:spPr>
        <p:txBody>
          <a:bodyPr wrap="square" lIns="0" tIns="0" rIns="0" bIns="0">
            <a:spAutoFit/>
          </a:bodyPr>
          <a:lstStyle/>
          <a:p>
            <a:pPr>
              <a:defRPr sz="1400" b="1">
                <a:solidFill>
                  <a:srgbClr val="0EA5E9"/>
                </a:solidFill>
                <a:latin typeface="Arial"/>
              </a:defRPr>
            </a:pPr>
            <a:r>
              <a:t>Capital Preservation Analysis</a:t>
            </a:r>
          </a:p>
        </p:txBody>
      </p:sp>
      <p:sp>
        <p:nvSpPr>
          <p:cNvPr id="7" name="TextBox 6"/>
          <p:cNvSpPr txBox="1"/>
          <p:nvPr/>
        </p:nvSpPr>
        <p:spPr>
          <a:xfrm>
            <a:off x="960120" y="2011680"/>
            <a:ext cx="5029200" cy="3931920"/>
          </a:xfrm>
          <a:prstGeom prst="rect">
            <a:avLst/>
          </a:prstGeom>
          <a:noFill/>
        </p:spPr>
        <p:txBody>
          <a:bodyPr wrap="square" lIns="0" tIns="0" rIns="0" bIns="0">
            <a:spAutoFit/>
          </a:bodyPr>
          <a:lstStyle/>
          <a:p>
            <a:pPr>
              <a:spcAft>
                <a:spcPts val="800"/>
              </a:spcAft>
              <a:defRPr sz="1200">
                <a:latin typeface="Arial"/>
              </a:defRPr>
            </a:pPr>
            <a:r>
              <a:rPr b="1">
                <a:solidFill>
                  <a:srgbClr val="F8FAFC"/>
                </a:solidFill>
              </a:rPr>
              <a:t>True Alpha Definition: </a:t>
            </a:r>
            <a:r>
              <a:rPr>
                <a:solidFill>
                  <a:srgbClr val="94A3B8"/>
                </a:solidFill>
              </a:rPr>
              <a:t>True quantitative performance is not just raw return, but return per unit of downside risk taken.</a:t>
            </a:r>
          </a:p>
          <a:p>
            <a:pPr>
              <a:spcAft>
                <a:spcPts val="800"/>
              </a:spcAft>
              <a:defRPr sz="1200">
                <a:latin typeface="Arial"/>
              </a:defRPr>
            </a:pPr>
            <a:r>
              <a:rPr b="1">
                <a:solidFill>
                  <a:srgbClr val="F8FAFC"/>
                </a:solidFill>
              </a:rPr>
              <a:t>Sharpe Ratio (1.26 vs 0.70): </a:t>
            </a:r>
            <a:r>
              <a:rPr>
                <a:solidFill>
                  <a:srgbClr val="94A3B8"/>
                </a:solidFill>
              </a:rPr>
              <a:t>A2C's Sharpe of 1.26 confirms its returns were earned via strategic timing rather than reckless volatility.</a:t>
            </a:r>
          </a:p>
          <a:p>
            <a:pPr>
              <a:spcAft>
                <a:spcPts val="800"/>
              </a:spcAft>
              <a:defRPr sz="1200">
                <a:latin typeface="Arial"/>
              </a:defRPr>
            </a:pPr>
            <a:r>
              <a:rPr b="1">
                <a:solidFill>
                  <a:srgbClr val="F8FAFC"/>
                </a:solidFill>
              </a:rPr>
              <a:t>Drawdown Defense (-9.02%): </a:t>
            </a:r>
            <a:r>
              <a:rPr>
                <a:solidFill>
                  <a:srgbClr val="94A3B8"/>
                </a:solidFill>
              </a:rPr>
              <a:t>During major test corrections where the market dropped -10.87%, A2C limited max loss to -9.02%.</a:t>
            </a:r>
          </a:p>
          <a:p>
            <a:pPr>
              <a:spcAft>
                <a:spcPts val="800"/>
              </a:spcAft>
              <a:defRPr sz="1200">
                <a:latin typeface="Arial"/>
              </a:defRPr>
            </a:pPr>
            <a:r>
              <a:rPr b="1">
                <a:solidFill>
                  <a:srgbClr val="F8FAFC"/>
                </a:solidFill>
              </a:rPr>
              <a:t>Dynamic Hedging: </a:t>
            </a:r>
            <a:r>
              <a:rPr>
                <a:solidFill>
                  <a:srgbClr val="94A3B8"/>
                </a:solidFill>
              </a:rPr>
              <a:t>A2C's critic correctly identified high-volatility market states and commanded the actor to reduce portfolio beta before pullbacks expanded.</a:t>
            </a:r>
          </a:p>
          <a:p>
            <a:pPr>
              <a:spcAft>
                <a:spcPts val="800"/>
              </a:spcAft>
              <a:defRPr sz="1200">
                <a:latin typeface="Arial"/>
              </a:defRPr>
            </a:pPr>
            <a:r>
              <a:rPr b="1">
                <a:solidFill>
                  <a:srgbClr val="F8FAFC"/>
                </a:solidFill>
              </a:rPr>
              <a:t>Downside Volatility Squeezing: </a:t>
            </a:r>
            <a:r>
              <a:rPr>
                <a:solidFill>
                  <a:srgbClr val="94A3B8"/>
                </a:solidFill>
              </a:rPr>
              <a:t>A2C achieved the highest Sortino and Calmar ratios across all evaluated strategies.</a:t>
            </a:r>
          </a:p>
        </p:txBody>
      </p:sp>
      <p:pic>
        <p:nvPicPr>
          <p:cNvPr id="8" name="Picture 7" descr="drawdown_chart.png"/>
          <p:cNvPicPr>
            <a:picLocks noChangeAspect="1"/>
          </p:cNvPicPr>
          <p:nvPr/>
        </p:nvPicPr>
        <p:blipFill>
          <a:blip r:embed="rId2"/>
          <a:stretch>
            <a:fillRect/>
          </a:stretch>
        </p:blipFill>
        <p:spPr>
          <a:xfrm>
            <a:off x="6492240" y="1463040"/>
            <a:ext cx="4937760" cy="2221992"/>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058400" cy="320040"/>
          </a:xfrm>
          <a:prstGeom prst="rect">
            <a:avLst/>
          </a:prstGeom>
          <a:noFill/>
        </p:spPr>
        <p:txBody>
          <a:bodyPr wrap="square" lIns="0" tIns="0" rIns="0" bIns="0">
            <a:spAutoFit/>
          </a:bodyPr>
          <a:lstStyle/>
          <a:p>
            <a:pPr>
              <a:defRPr sz="1100" b="1">
                <a:solidFill>
                  <a:srgbClr val="0EA5E9"/>
                </a:solidFill>
                <a:latin typeface="Arial"/>
              </a:defRPr>
            </a:pPr>
            <a:r>
              <a:t>SYSTEM ARCHITECTURE</a:t>
            </a:r>
          </a:p>
        </p:txBody>
      </p:sp>
      <p:sp>
        <p:nvSpPr>
          <p:cNvPr id="4" name="TextBox 3"/>
          <p:cNvSpPr txBox="1"/>
          <p:nvPr/>
        </p:nvSpPr>
        <p:spPr>
          <a:xfrm>
            <a:off x="731520" y="658368"/>
            <a:ext cx="10515600" cy="548640"/>
          </a:xfrm>
          <a:prstGeom prst="rect">
            <a:avLst/>
          </a:prstGeom>
          <a:noFill/>
        </p:spPr>
        <p:txBody>
          <a:bodyPr wrap="square" lIns="0" tIns="0" rIns="0" bIns="0">
            <a:spAutoFit/>
          </a:bodyPr>
          <a:lstStyle/>
          <a:p>
            <a:pPr>
              <a:defRPr sz="2200" b="1">
                <a:solidFill>
                  <a:srgbClr val="F8FAFC"/>
                </a:solidFill>
                <a:latin typeface="Arial"/>
              </a:defRPr>
            </a:pPr>
            <a:r>
              <a:t>Full-Stack Deployment: Interactive Streamlit Dashboard</a:t>
            </a:r>
          </a:p>
        </p:txBody>
      </p:sp>
      <p:sp>
        <p:nvSpPr>
          <p:cNvPr id="5" name="Rounded Rectangle 4"/>
          <p:cNvSpPr/>
          <p:nvPr/>
        </p:nvSpPr>
        <p:spPr>
          <a:xfrm>
            <a:off x="731520" y="1463040"/>
            <a:ext cx="3383280" cy="475488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645920"/>
            <a:ext cx="2926080" cy="365760"/>
          </a:xfrm>
          <a:prstGeom prst="rect">
            <a:avLst/>
          </a:prstGeom>
          <a:noFill/>
        </p:spPr>
        <p:txBody>
          <a:bodyPr wrap="square" lIns="0" tIns="0" rIns="0" bIns="0">
            <a:spAutoFit/>
          </a:bodyPr>
          <a:lstStyle/>
          <a:p>
            <a:pPr>
              <a:defRPr sz="1400" b="1">
                <a:solidFill>
                  <a:srgbClr val="0EA5E9"/>
                </a:solidFill>
                <a:latin typeface="Arial"/>
              </a:defRPr>
            </a:pPr>
            <a:r>
              <a:t>1. Core RL Environment</a:t>
            </a:r>
          </a:p>
        </p:txBody>
      </p:sp>
      <p:sp>
        <p:nvSpPr>
          <p:cNvPr id="7" name="TextBox 6"/>
          <p:cNvSpPr txBox="1"/>
          <p:nvPr/>
        </p:nvSpPr>
        <p:spPr>
          <a:xfrm>
            <a:off x="960120" y="2011680"/>
            <a:ext cx="2926080" cy="3931920"/>
          </a:xfrm>
          <a:prstGeom prst="rect">
            <a:avLst/>
          </a:prstGeom>
          <a:noFill/>
        </p:spPr>
        <p:txBody>
          <a:bodyPr wrap="square" lIns="0" tIns="0" rIns="0" bIns="0">
            <a:spAutoFit/>
          </a:bodyPr>
          <a:lstStyle/>
          <a:p>
            <a:pPr>
              <a:spcAft>
                <a:spcPts val="800"/>
              </a:spcAft>
              <a:defRPr sz="1200">
                <a:latin typeface="Arial"/>
              </a:defRPr>
            </a:pPr>
            <a:r>
              <a:rPr b="1">
                <a:solidFill>
                  <a:srgbClr val="F8FAFC"/>
                </a:solidFill>
              </a:rPr>
              <a:t>portfolio_env.py: </a:t>
            </a:r>
            <a:r>
              <a:rPr>
                <a:solidFill>
                  <a:srgbClr val="94A3B8"/>
                </a:solidFill>
              </a:rPr>
              <a:t>Custom Gymnasium environment.</a:t>
            </a:r>
          </a:p>
          <a:p>
            <a:pPr>
              <a:spcAft>
                <a:spcPts val="800"/>
              </a:spcAft>
              <a:defRPr sz="1200">
                <a:latin typeface="Arial"/>
              </a:defRPr>
            </a:pPr>
            <a:r>
              <a:rPr b="1">
                <a:solidFill>
                  <a:srgbClr val="F8FAFC"/>
                </a:solidFill>
              </a:rPr>
              <a:t>Dual Spaces: </a:t>
            </a:r>
            <a:r>
              <a:rPr>
                <a:solidFill>
                  <a:srgbClr val="94A3B8"/>
                </a:solidFill>
              </a:rPr>
              <a:t>Supports continuous Box actions (A2C/PPO) and Discrete action spaces (DQN).</a:t>
            </a:r>
          </a:p>
          <a:p>
            <a:pPr>
              <a:spcAft>
                <a:spcPts val="800"/>
              </a:spcAft>
              <a:defRPr sz="1200">
                <a:latin typeface="Arial"/>
              </a:defRPr>
            </a:pPr>
            <a:r>
              <a:rPr b="1">
                <a:solidFill>
                  <a:srgbClr val="F8FAFC"/>
                </a:solidFill>
              </a:rPr>
              <a:t>Transaction Modeling: </a:t>
            </a:r>
            <a:r>
              <a:rPr>
                <a:solidFill>
                  <a:srgbClr val="94A3B8"/>
                </a:solidFill>
              </a:rPr>
              <a:t>Calculates net rebalancing turnover and deducts realistic fees.</a:t>
            </a:r>
          </a:p>
          <a:p>
            <a:pPr>
              <a:spcAft>
                <a:spcPts val="800"/>
              </a:spcAft>
              <a:defRPr sz="1200">
                <a:latin typeface="Arial"/>
              </a:defRPr>
            </a:pPr>
            <a:r>
              <a:rPr b="1">
                <a:solidFill>
                  <a:srgbClr val="F8FAFC"/>
                </a:solidFill>
              </a:rPr>
              <a:t>Info Dict Logging: </a:t>
            </a:r>
            <a:r>
              <a:rPr>
                <a:solidFill>
                  <a:srgbClr val="94A3B8"/>
                </a:solidFill>
              </a:rPr>
              <a:t>Emits net NAV, daily returns, and allocations for auditability.</a:t>
            </a:r>
          </a:p>
        </p:txBody>
      </p:sp>
      <p:sp>
        <p:nvSpPr>
          <p:cNvPr id="8" name="Rounded Rectangle 7"/>
          <p:cNvSpPr/>
          <p:nvPr/>
        </p:nvSpPr>
        <p:spPr>
          <a:xfrm>
            <a:off x="4389120" y="1463040"/>
            <a:ext cx="3383280" cy="475488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17720" y="1645920"/>
            <a:ext cx="2926080" cy="365760"/>
          </a:xfrm>
          <a:prstGeom prst="rect">
            <a:avLst/>
          </a:prstGeom>
          <a:noFill/>
        </p:spPr>
        <p:txBody>
          <a:bodyPr wrap="square" lIns="0" tIns="0" rIns="0" bIns="0">
            <a:spAutoFit/>
          </a:bodyPr>
          <a:lstStyle/>
          <a:p>
            <a:pPr>
              <a:defRPr sz="1400" b="1">
                <a:solidFill>
                  <a:srgbClr val="0EA5E9"/>
                </a:solidFill>
                <a:latin typeface="Arial"/>
              </a:defRPr>
            </a:pPr>
            <a:r>
              <a:t>2. Training &amp; Checkpointing</a:t>
            </a:r>
          </a:p>
        </p:txBody>
      </p:sp>
      <p:sp>
        <p:nvSpPr>
          <p:cNvPr id="10" name="TextBox 9"/>
          <p:cNvSpPr txBox="1"/>
          <p:nvPr/>
        </p:nvSpPr>
        <p:spPr>
          <a:xfrm>
            <a:off x="4617720" y="2011680"/>
            <a:ext cx="2926080" cy="3931920"/>
          </a:xfrm>
          <a:prstGeom prst="rect">
            <a:avLst/>
          </a:prstGeom>
          <a:noFill/>
        </p:spPr>
        <p:txBody>
          <a:bodyPr wrap="square" lIns="0" tIns="0" rIns="0" bIns="0">
            <a:spAutoFit/>
          </a:bodyPr>
          <a:lstStyle/>
          <a:p>
            <a:pPr>
              <a:spcAft>
                <a:spcPts val="800"/>
              </a:spcAft>
              <a:defRPr sz="1200">
                <a:latin typeface="Arial"/>
              </a:defRPr>
            </a:pPr>
            <a:r>
              <a:rPr b="1">
                <a:solidFill>
                  <a:srgbClr val="F8FAFC"/>
                </a:solidFill>
              </a:rPr>
              <a:t>train_rl.py: </a:t>
            </a:r>
            <a:r>
              <a:rPr>
                <a:solidFill>
                  <a:srgbClr val="94A3B8"/>
                </a:solidFill>
              </a:rPr>
              <a:t>Automated training orchestrator.</a:t>
            </a:r>
          </a:p>
          <a:p>
            <a:pPr>
              <a:spcAft>
                <a:spcPts val="800"/>
              </a:spcAft>
              <a:defRPr sz="1200">
                <a:latin typeface="Arial"/>
              </a:defRPr>
            </a:pPr>
            <a:r>
              <a:rPr b="1">
                <a:solidFill>
                  <a:srgbClr val="F8FAFC"/>
                </a:solidFill>
              </a:rPr>
              <a:t>Multi-Agent Loop: </a:t>
            </a:r>
            <a:r>
              <a:rPr>
                <a:solidFill>
                  <a:srgbClr val="94A3B8"/>
                </a:solidFill>
              </a:rPr>
              <a:t>Executes 150k timesteps across DQN, A2C, and PPO sequentially.</a:t>
            </a:r>
          </a:p>
          <a:p>
            <a:pPr>
              <a:spcAft>
                <a:spcPts val="800"/>
              </a:spcAft>
              <a:defRPr sz="1200">
                <a:latin typeface="Arial"/>
              </a:defRPr>
            </a:pPr>
            <a:r>
              <a:rPr b="1">
                <a:solidFill>
                  <a:srgbClr val="F8FAFC"/>
                </a:solidFill>
              </a:rPr>
              <a:t>Model Persistence: </a:t>
            </a:r>
            <a:r>
              <a:rPr>
                <a:solidFill>
                  <a:srgbClr val="94A3B8"/>
                </a:solidFill>
              </a:rPr>
              <a:t>Saves compressed PyTorch policy checkpoints to /models.</a:t>
            </a:r>
          </a:p>
          <a:p>
            <a:pPr>
              <a:spcAft>
                <a:spcPts val="800"/>
              </a:spcAft>
              <a:defRPr sz="1200">
                <a:latin typeface="Arial"/>
              </a:defRPr>
            </a:pPr>
            <a:r>
              <a:rPr b="1">
                <a:solidFill>
                  <a:srgbClr val="F8FAFC"/>
                </a:solidFill>
              </a:rPr>
              <a:t>Tuning Metadata: </a:t>
            </a:r>
            <a:r>
              <a:rPr>
                <a:solidFill>
                  <a:srgbClr val="94A3B8"/>
                </a:solidFill>
              </a:rPr>
              <a:t>Generates performance JSON summaries for reproducibility.</a:t>
            </a:r>
          </a:p>
        </p:txBody>
      </p:sp>
      <p:sp>
        <p:nvSpPr>
          <p:cNvPr id="11" name="Rounded Rectangle 10"/>
          <p:cNvSpPr/>
          <p:nvPr/>
        </p:nvSpPr>
        <p:spPr>
          <a:xfrm>
            <a:off x="8046720" y="1463040"/>
            <a:ext cx="3383280" cy="4754880"/>
          </a:xfrm>
          <a:prstGeom prst="roundRect">
            <a:avLst/>
          </a:prstGeom>
          <a:solidFill>
            <a:srgbClr val="1E293B"/>
          </a:solidFill>
          <a:ln w="1905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75320" y="1645920"/>
            <a:ext cx="2926080" cy="365760"/>
          </a:xfrm>
          <a:prstGeom prst="rect">
            <a:avLst/>
          </a:prstGeom>
          <a:noFill/>
        </p:spPr>
        <p:txBody>
          <a:bodyPr wrap="square" lIns="0" tIns="0" rIns="0" bIns="0">
            <a:spAutoFit/>
          </a:bodyPr>
          <a:lstStyle/>
          <a:p>
            <a:pPr>
              <a:defRPr sz="1400" b="1">
                <a:solidFill>
                  <a:srgbClr val="0EA5E9"/>
                </a:solidFill>
                <a:latin typeface="Arial"/>
              </a:defRPr>
            </a:pPr>
            <a:r>
              <a:t>3. Streamlit Web Dashboard</a:t>
            </a:r>
          </a:p>
        </p:txBody>
      </p:sp>
      <p:sp>
        <p:nvSpPr>
          <p:cNvPr id="13" name="TextBox 12"/>
          <p:cNvSpPr txBox="1"/>
          <p:nvPr/>
        </p:nvSpPr>
        <p:spPr>
          <a:xfrm>
            <a:off x="8275320" y="2011680"/>
            <a:ext cx="2926080" cy="3931920"/>
          </a:xfrm>
          <a:prstGeom prst="rect">
            <a:avLst/>
          </a:prstGeom>
          <a:noFill/>
        </p:spPr>
        <p:txBody>
          <a:bodyPr wrap="square" lIns="0" tIns="0" rIns="0" bIns="0">
            <a:spAutoFit/>
          </a:bodyPr>
          <a:lstStyle/>
          <a:p>
            <a:pPr>
              <a:spcAft>
                <a:spcPts val="800"/>
              </a:spcAft>
              <a:defRPr sz="1200">
                <a:latin typeface="Arial"/>
              </a:defRPr>
            </a:pPr>
            <a:r>
              <a:rPr b="1">
                <a:solidFill>
                  <a:srgbClr val="F8FAFC"/>
                </a:solidFill>
              </a:rPr>
              <a:t>app.py: </a:t>
            </a:r>
            <a:r>
              <a:rPr>
                <a:solidFill>
                  <a:srgbClr val="94A3B8"/>
                </a:solidFill>
              </a:rPr>
              <a:t>Production-grade Streamlit web interface running on localhost:8501.</a:t>
            </a:r>
          </a:p>
          <a:p>
            <a:pPr>
              <a:spcAft>
                <a:spcPts val="800"/>
              </a:spcAft>
              <a:defRPr sz="1200">
                <a:latin typeface="Arial"/>
              </a:defRPr>
            </a:pPr>
            <a:r>
              <a:rPr b="1">
                <a:solidFill>
                  <a:srgbClr val="F8FAFC"/>
                </a:solidFill>
              </a:rPr>
              <a:t>EDA Tab Panel: </a:t>
            </a:r>
            <a:r>
              <a:rPr>
                <a:solidFill>
                  <a:srgbClr val="94A3B8"/>
                </a:solidFill>
              </a:rPr>
              <a:t>Visualizes 34-year distributions and correlation matrices.</a:t>
            </a:r>
          </a:p>
          <a:p>
            <a:pPr>
              <a:spcAft>
                <a:spcPts val="800"/>
              </a:spcAft>
              <a:defRPr sz="1200">
                <a:latin typeface="Arial"/>
              </a:defRPr>
            </a:pPr>
            <a:r>
              <a:rPr b="1">
                <a:solidFill>
                  <a:srgbClr val="F8FAFC"/>
                </a:solidFill>
              </a:rPr>
              <a:t>Single Model Simulation: </a:t>
            </a:r>
            <a:r>
              <a:rPr>
                <a:solidFill>
                  <a:srgbClr val="94A3B8"/>
                </a:solidFill>
              </a:rPr>
              <a:t>Interactive trajectories, metrics, and JSON hyperparameters.</a:t>
            </a:r>
          </a:p>
          <a:p>
            <a:pPr>
              <a:spcAft>
                <a:spcPts val="800"/>
              </a:spcAft>
              <a:defRPr sz="1200">
                <a:latin typeface="Arial"/>
              </a:defRPr>
            </a:pPr>
            <a:r>
              <a:rPr b="1">
                <a:solidFill>
                  <a:srgbClr val="F8FAFC"/>
                </a:solidFill>
              </a:rPr>
              <a:t>Compare All Engine: </a:t>
            </a:r>
            <a:r>
              <a:rPr>
                <a:solidFill>
                  <a:srgbClr val="94A3B8"/>
                </a:solidFill>
              </a:rPr>
              <a:t>Live benchmark plots and multi-model performance tables.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058400" cy="320040"/>
          </a:xfrm>
          <a:prstGeom prst="rect">
            <a:avLst/>
          </a:prstGeom>
          <a:noFill/>
        </p:spPr>
        <p:txBody>
          <a:bodyPr wrap="square" lIns="0" tIns="0" rIns="0" bIns="0">
            <a:spAutoFit/>
          </a:bodyPr>
          <a:lstStyle/>
          <a:p>
            <a:pPr>
              <a:defRPr sz="1100" b="1">
                <a:solidFill>
                  <a:srgbClr val="0EA5E9"/>
                </a:solidFill>
                <a:latin typeface="Arial"/>
              </a:defRPr>
            </a:pPr>
            <a:r>
              <a:t>TECHNICAL CHALLENGES</a:t>
            </a:r>
          </a:p>
        </p:txBody>
      </p:sp>
      <p:sp>
        <p:nvSpPr>
          <p:cNvPr id="4" name="TextBox 3"/>
          <p:cNvSpPr txBox="1"/>
          <p:nvPr/>
        </p:nvSpPr>
        <p:spPr>
          <a:xfrm>
            <a:off x="731520" y="658368"/>
            <a:ext cx="10515600" cy="548640"/>
          </a:xfrm>
          <a:prstGeom prst="rect">
            <a:avLst/>
          </a:prstGeom>
          <a:noFill/>
        </p:spPr>
        <p:txBody>
          <a:bodyPr wrap="square" lIns="0" tIns="0" rIns="0" bIns="0">
            <a:spAutoFit/>
          </a:bodyPr>
          <a:lstStyle/>
          <a:p>
            <a:pPr>
              <a:defRPr sz="2200" b="1">
                <a:solidFill>
                  <a:srgbClr val="F8FAFC"/>
                </a:solidFill>
                <a:latin typeface="Arial"/>
              </a:defRPr>
            </a:pPr>
            <a:r>
              <a:t>Engineering Challenges &amp; Production Solutions Overcome</a:t>
            </a:r>
          </a:p>
        </p:txBody>
      </p:sp>
      <p:sp>
        <p:nvSpPr>
          <p:cNvPr id="5" name="Rounded Rectangle 4"/>
          <p:cNvSpPr/>
          <p:nvPr/>
        </p:nvSpPr>
        <p:spPr>
          <a:xfrm>
            <a:off x="731520" y="1463040"/>
            <a:ext cx="5120640" cy="219456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645920"/>
            <a:ext cx="4663440" cy="365760"/>
          </a:xfrm>
          <a:prstGeom prst="rect">
            <a:avLst/>
          </a:prstGeom>
          <a:noFill/>
        </p:spPr>
        <p:txBody>
          <a:bodyPr wrap="square" lIns="0" tIns="0" rIns="0" bIns="0">
            <a:spAutoFit/>
          </a:bodyPr>
          <a:lstStyle/>
          <a:p>
            <a:pPr>
              <a:defRPr sz="1400" b="1">
                <a:solidFill>
                  <a:srgbClr val="0EA5E9"/>
                </a:solidFill>
                <a:latin typeface="Arial"/>
              </a:defRPr>
            </a:pPr>
            <a:r>
              <a:t>1. Realistic Friction Modeling</a:t>
            </a:r>
          </a:p>
        </p:txBody>
      </p:sp>
      <p:sp>
        <p:nvSpPr>
          <p:cNvPr id="7" name="TextBox 6"/>
          <p:cNvSpPr txBox="1"/>
          <p:nvPr/>
        </p:nvSpPr>
        <p:spPr>
          <a:xfrm>
            <a:off x="960120" y="1920240"/>
            <a:ext cx="4663440" cy="1554480"/>
          </a:xfrm>
          <a:prstGeom prst="rect">
            <a:avLst/>
          </a:prstGeom>
          <a:noFill/>
        </p:spPr>
        <p:txBody>
          <a:bodyPr wrap="square" lIns="0" tIns="0" rIns="0" bIns="0">
            <a:spAutoFit/>
          </a:bodyPr>
          <a:lstStyle/>
          <a:p>
            <a:pPr>
              <a:spcAft>
                <a:spcPts val="800"/>
              </a:spcAft>
              <a:defRPr sz="1200">
                <a:latin typeface="Arial"/>
              </a:defRPr>
            </a:pPr>
            <a:r>
              <a:rPr b="1">
                <a:solidFill>
                  <a:srgbClr val="F8FAFC"/>
                </a:solidFill>
              </a:rPr>
              <a:t>Challenge: </a:t>
            </a:r>
            <a:r>
              <a:rPr>
                <a:solidFill>
                  <a:srgbClr val="94A3B8"/>
                </a:solidFill>
              </a:rPr>
              <a:t>Academic RL models frequently assume zero friction, resulting in phantom alpha that collapses in live trading.</a:t>
            </a:r>
          </a:p>
          <a:p>
            <a:pPr>
              <a:spcAft>
                <a:spcPts val="800"/>
              </a:spcAft>
              <a:defRPr sz="1200">
                <a:latin typeface="Arial"/>
              </a:defRPr>
            </a:pPr>
            <a:r>
              <a:rPr b="1">
                <a:solidFill>
                  <a:srgbClr val="F8FAFC"/>
                </a:solidFill>
              </a:rPr>
              <a:t>Solution: </a:t>
            </a:r>
            <a:r>
              <a:rPr>
                <a:solidFill>
                  <a:srgbClr val="94A3B8"/>
                </a:solidFill>
              </a:rPr>
              <a:t>Implemented turnover-based transaction cost penalty kappa = 0.001 directly into the MDP transition dynamics.</a:t>
            </a:r>
          </a:p>
        </p:txBody>
      </p:sp>
      <p:sp>
        <p:nvSpPr>
          <p:cNvPr id="8" name="Rounded Rectangle 7"/>
          <p:cNvSpPr/>
          <p:nvPr/>
        </p:nvSpPr>
        <p:spPr>
          <a:xfrm>
            <a:off x="6217920" y="1463040"/>
            <a:ext cx="5120640" cy="219456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46520" y="1645920"/>
            <a:ext cx="4663440" cy="365760"/>
          </a:xfrm>
          <a:prstGeom prst="rect">
            <a:avLst/>
          </a:prstGeom>
          <a:noFill/>
        </p:spPr>
        <p:txBody>
          <a:bodyPr wrap="square" lIns="0" tIns="0" rIns="0" bIns="0">
            <a:spAutoFit/>
          </a:bodyPr>
          <a:lstStyle/>
          <a:p>
            <a:pPr>
              <a:defRPr sz="1400" b="1">
                <a:solidFill>
                  <a:srgbClr val="0EA5E9"/>
                </a:solidFill>
                <a:latin typeface="Arial"/>
              </a:defRPr>
            </a:pPr>
            <a:r>
              <a:t>2. Simplex Action Normalization</a:t>
            </a:r>
          </a:p>
        </p:txBody>
      </p:sp>
      <p:sp>
        <p:nvSpPr>
          <p:cNvPr id="10" name="TextBox 9"/>
          <p:cNvSpPr txBox="1"/>
          <p:nvPr/>
        </p:nvSpPr>
        <p:spPr>
          <a:xfrm>
            <a:off x="6446520" y="1920240"/>
            <a:ext cx="4663440" cy="1554480"/>
          </a:xfrm>
          <a:prstGeom prst="rect">
            <a:avLst/>
          </a:prstGeom>
          <a:noFill/>
        </p:spPr>
        <p:txBody>
          <a:bodyPr wrap="square" lIns="0" tIns="0" rIns="0" bIns="0">
            <a:spAutoFit/>
          </a:bodyPr>
          <a:lstStyle/>
          <a:p>
            <a:pPr>
              <a:spcAft>
                <a:spcPts val="800"/>
              </a:spcAft>
              <a:defRPr sz="1200">
                <a:latin typeface="Arial"/>
              </a:defRPr>
            </a:pPr>
            <a:r>
              <a:rPr b="1">
                <a:solidFill>
                  <a:srgbClr val="F8FAFC"/>
                </a:solidFill>
              </a:rPr>
              <a:t>Challenge: </a:t>
            </a:r>
            <a:r>
              <a:rPr>
                <a:solidFill>
                  <a:srgbClr val="94A3B8"/>
                </a:solidFill>
              </a:rPr>
              <a:t>Continuous policy outputs can violate budget constraints or output negative weights (unintended shorting).</a:t>
            </a:r>
          </a:p>
          <a:p>
            <a:pPr>
              <a:spcAft>
                <a:spcPts val="800"/>
              </a:spcAft>
              <a:defRPr sz="1200">
                <a:latin typeface="Arial"/>
              </a:defRPr>
            </a:pPr>
            <a:r>
              <a:rPr b="1">
                <a:solidFill>
                  <a:srgbClr val="F8FAFC"/>
                </a:solidFill>
              </a:rPr>
              <a:t>Solution: </a:t>
            </a:r>
            <a:r>
              <a:rPr>
                <a:solidFill>
                  <a:srgbClr val="94A3B8"/>
                </a:solidFill>
              </a:rPr>
              <a:t>Constructed mathematical Softmax projections ensuring asset weights strictly sum to 1.0 with zero leverage.</a:t>
            </a:r>
          </a:p>
        </p:txBody>
      </p:sp>
      <p:sp>
        <p:nvSpPr>
          <p:cNvPr id="11" name="Rounded Rectangle 10"/>
          <p:cNvSpPr/>
          <p:nvPr/>
        </p:nvSpPr>
        <p:spPr>
          <a:xfrm>
            <a:off x="731520" y="3931920"/>
            <a:ext cx="5120640" cy="228600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4114800"/>
            <a:ext cx="4663440" cy="365760"/>
          </a:xfrm>
          <a:prstGeom prst="rect">
            <a:avLst/>
          </a:prstGeom>
          <a:noFill/>
        </p:spPr>
        <p:txBody>
          <a:bodyPr wrap="square" lIns="0" tIns="0" rIns="0" bIns="0">
            <a:spAutoFit/>
          </a:bodyPr>
          <a:lstStyle/>
          <a:p>
            <a:pPr>
              <a:defRPr sz="1400" b="1">
                <a:solidFill>
                  <a:srgbClr val="0EA5E9"/>
                </a:solidFill>
                <a:latin typeface="Arial"/>
              </a:defRPr>
            </a:pPr>
            <a:r>
              <a:t>3. Cross-Environment Serialization</a:t>
            </a:r>
          </a:p>
        </p:txBody>
      </p:sp>
      <p:sp>
        <p:nvSpPr>
          <p:cNvPr id="13" name="TextBox 12"/>
          <p:cNvSpPr txBox="1"/>
          <p:nvPr/>
        </p:nvSpPr>
        <p:spPr>
          <a:xfrm>
            <a:off x="960120" y="4389120"/>
            <a:ext cx="4663440" cy="1645920"/>
          </a:xfrm>
          <a:prstGeom prst="rect">
            <a:avLst/>
          </a:prstGeom>
          <a:noFill/>
        </p:spPr>
        <p:txBody>
          <a:bodyPr wrap="square" lIns="0" tIns="0" rIns="0" bIns="0">
            <a:spAutoFit/>
          </a:bodyPr>
          <a:lstStyle/>
          <a:p>
            <a:pPr>
              <a:spcAft>
                <a:spcPts val="800"/>
              </a:spcAft>
              <a:defRPr sz="1200">
                <a:latin typeface="Arial"/>
              </a:defRPr>
            </a:pPr>
            <a:r>
              <a:rPr b="1">
                <a:solidFill>
                  <a:srgbClr val="F8FAFC"/>
                </a:solidFill>
              </a:rPr>
              <a:t>Challenge: </a:t>
            </a:r>
            <a:r>
              <a:rPr>
                <a:solidFill>
                  <a:srgbClr val="94A3B8"/>
                </a:solidFill>
              </a:rPr>
              <a:t>Cloud training on Kaggle GPU serialized checkpoints using NumPy 2.x ABI, causing unpickling errors on local environments.</a:t>
            </a:r>
          </a:p>
          <a:p>
            <a:pPr>
              <a:spcAft>
                <a:spcPts val="800"/>
              </a:spcAft>
              <a:defRPr sz="1200">
                <a:latin typeface="Arial"/>
              </a:defRPr>
            </a:pPr>
            <a:r>
              <a:rPr b="1">
                <a:solidFill>
                  <a:srgbClr val="F8FAFC"/>
                </a:solidFill>
              </a:rPr>
              <a:t>Solution: </a:t>
            </a:r>
            <a:r>
              <a:rPr>
                <a:solidFill>
                  <a:srgbClr val="94A3B8"/>
                </a:solidFill>
              </a:rPr>
              <a:t>Upgraded PyTorch and Gymnasium runtime binaries to ensure full cross-platform deserialization compatibility.</a:t>
            </a:r>
          </a:p>
        </p:txBody>
      </p:sp>
      <p:sp>
        <p:nvSpPr>
          <p:cNvPr id="14" name="Rounded Rectangle 13"/>
          <p:cNvSpPr/>
          <p:nvPr/>
        </p:nvSpPr>
        <p:spPr>
          <a:xfrm>
            <a:off x="6217920" y="3931920"/>
            <a:ext cx="5120640" cy="2286000"/>
          </a:xfrm>
          <a:prstGeom prst="roundRect">
            <a:avLst/>
          </a:prstGeom>
          <a:solidFill>
            <a:srgbClr val="1E29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46520" y="4114800"/>
            <a:ext cx="4663440" cy="365760"/>
          </a:xfrm>
          <a:prstGeom prst="rect">
            <a:avLst/>
          </a:prstGeom>
          <a:noFill/>
        </p:spPr>
        <p:txBody>
          <a:bodyPr wrap="square" lIns="0" tIns="0" rIns="0" bIns="0">
            <a:spAutoFit/>
          </a:bodyPr>
          <a:lstStyle/>
          <a:p>
            <a:pPr>
              <a:defRPr sz="1400" b="1">
                <a:solidFill>
                  <a:srgbClr val="0EA5E9"/>
                </a:solidFill>
                <a:latin typeface="Arial"/>
              </a:defRPr>
            </a:pPr>
            <a:r>
              <a:t>4. Non-Stationarity Mitigation</a:t>
            </a:r>
          </a:p>
        </p:txBody>
      </p:sp>
      <p:sp>
        <p:nvSpPr>
          <p:cNvPr id="16" name="TextBox 15"/>
          <p:cNvSpPr txBox="1"/>
          <p:nvPr/>
        </p:nvSpPr>
        <p:spPr>
          <a:xfrm>
            <a:off x="6446520" y="4389120"/>
            <a:ext cx="4663440" cy="1645920"/>
          </a:xfrm>
          <a:prstGeom prst="rect">
            <a:avLst/>
          </a:prstGeom>
          <a:noFill/>
        </p:spPr>
        <p:txBody>
          <a:bodyPr wrap="square" lIns="0" tIns="0" rIns="0" bIns="0">
            <a:spAutoFit/>
          </a:bodyPr>
          <a:lstStyle/>
          <a:p>
            <a:pPr>
              <a:spcAft>
                <a:spcPts val="800"/>
              </a:spcAft>
              <a:defRPr sz="1200">
                <a:latin typeface="Arial"/>
              </a:defRPr>
            </a:pPr>
            <a:r>
              <a:rPr b="1">
                <a:solidFill>
                  <a:srgbClr val="F8FAFC"/>
                </a:solidFill>
              </a:rPr>
              <a:t>Challenge: </a:t>
            </a:r>
            <a:r>
              <a:rPr>
                <a:solidFill>
                  <a:srgbClr val="94A3B8"/>
                </a:solidFill>
              </a:rPr>
              <a:t>Raw stock price indices exhibit non-stationary upward drift over 34 years, causing neural networks to diverge.</a:t>
            </a:r>
          </a:p>
          <a:p>
            <a:pPr>
              <a:spcAft>
                <a:spcPts val="800"/>
              </a:spcAft>
              <a:defRPr sz="1200">
                <a:latin typeface="Arial"/>
              </a:defRPr>
            </a:pPr>
            <a:r>
              <a:rPr b="1">
                <a:solidFill>
                  <a:srgbClr val="F8FAFC"/>
                </a:solidFill>
              </a:rPr>
              <a:t>Solution: </a:t>
            </a:r>
            <a:r>
              <a:rPr>
                <a:solidFill>
                  <a:srgbClr val="94A3B8"/>
                </a:solidFill>
              </a:rPr>
              <a:t>Engineered relative return series and bounded technical oscillators, guaranteeing stationary Markov state inputs.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058400" cy="320040"/>
          </a:xfrm>
          <a:prstGeom prst="rect">
            <a:avLst/>
          </a:prstGeom>
          <a:noFill/>
        </p:spPr>
        <p:txBody>
          <a:bodyPr wrap="square" lIns="0" tIns="0" rIns="0" bIns="0">
            <a:spAutoFit/>
          </a:bodyPr>
          <a:lstStyle/>
          <a:p>
            <a:pPr>
              <a:defRPr sz="1100" b="1">
                <a:solidFill>
                  <a:srgbClr val="0EA5E9"/>
                </a:solidFill>
                <a:latin typeface="Arial"/>
              </a:defRPr>
            </a:pPr>
            <a:r>
              <a:t>CONCLUSION &amp; OUTLOOK</a:t>
            </a:r>
          </a:p>
        </p:txBody>
      </p:sp>
      <p:sp>
        <p:nvSpPr>
          <p:cNvPr id="4" name="TextBox 3"/>
          <p:cNvSpPr txBox="1"/>
          <p:nvPr/>
        </p:nvSpPr>
        <p:spPr>
          <a:xfrm>
            <a:off x="731520" y="658368"/>
            <a:ext cx="10515600" cy="548640"/>
          </a:xfrm>
          <a:prstGeom prst="rect">
            <a:avLst/>
          </a:prstGeom>
          <a:noFill/>
        </p:spPr>
        <p:txBody>
          <a:bodyPr wrap="square" lIns="0" tIns="0" rIns="0" bIns="0">
            <a:spAutoFit/>
          </a:bodyPr>
          <a:lstStyle/>
          <a:p>
            <a:pPr>
              <a:defRPr sz="2200" b="1">
                <a:solidFill>
                  <a:srgbClr val="F8FAFC"/>
                </a:solidFill>
                <a:latin typeface="Arial"/>
              </a:defRPr>
            </a:pPr>
            <a:r>
              <a:t>Conclusions &amp; Future Research Directions</a:t>
            </a:r>
          </a:p>
        </p:txBody>
      </p:sp>
      <p:sp>
        <p:nvSpPr>
          <p:cNvPr id="5" name="Rounded Rectangle 4"/>
          <p:cNvSpPr/>
          <p:nvPr/>
        </p:nvSpPr>
        <p:spPr>
          <a:xfrm>
            <a:off x="731520" y="1463040"/>
            <a:ext cx="5120640" cy="4754880"/>
          </a:xfrm>
          <a:prstGeom prst="roundRect">
            <a:avLst/>
          </a:prstGeom>
          <a:solidFill>
            <a:srgbClr val="1E29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645920"/>
            <a:ext cx="4663440" cy="365760"/>
          </a:xfrm>
          <a:prstGeom prst="rect">
            <a:avLst/>
          </a:prstGeom>
          <a:noFill/>
        </p:spPr>
        <p:txBody>
          <a:bodyPr wrap="square" lIns="0" tIns="0" rIns="0" bIns="0">
            <a:spAutoFit/>
          </a:bodyPr>
          <a:lstStyle/>
          <a:p>
            <a:pPr>
              <a:defRPr sz="1400" b="1">
                <a:solidFill>
                  <a:srgbClr val="0EA5E9"/>
                </a:solidFill>
                <a:latin typeface="Arial"/>
              </a:defRPr>
            </a:pPr>
            <a:r>
              <a:t>Key Research Conclusions</a:t>
            </a:r>
          </a:p>
        </p:txBody>
      </p:sp>
      <p:sp>
        <p:nvSpPr>
          <p:cNvPr id="7" name="TextBox 6"/>
          <p:cNvSpPr txBox="1"/>
          <p:nvPr/>
        </p:nvSpPr>
        <p:spPr>
          <a:xfrm>
            <a:off x="960120" y="2011680"/>
            <a:ext cx="4663440" cy="3931920"/>
          </a:xfrm>
          <a:prstGeom prst="rect">
            <a:avLst/>
          </a:prstGeom>
          <a:noFill/>
        </p:spPr>
        <p:txBody>
          <a:bodyPr wrap="square" lIns="0" tIns="0" rIns="0" bIns="0">
            <a:spAutoFit/>
          </a:bodyPr>
          <a:lstStyle/>
          <a:p>
            <a:pPr>
              <a:spcAft>
                <a:spcPts val="800"/>
              </a:spcAft>
              <a:defRPr sz="1200">
                <a:latin typeface="Arial"/>
              </a:defRPr>
            </a:pPr>
            <a:r>
              <a:rPr b="1">
                <a:solidFill>
                  <a:srgbClr val="F8FAFC"/>
                </a:solidFill>
              </a:rPr>
              <a:t>RL Viability: </a:t>
            </a:r>
            <a:r>
              <a:rPr>
                <a:solidFill>
                  <a:srgbClr val="94A3B8"/>
                </a:solidFill>
              </a:rPr>
              <a:t>Deep Reinforcement Learning can successfully learn dynamic asset allocation strategies that outperform passive buy-and-hold benchmarks.</a:t>
            </a:r>
          </a:p>
          <a:p>
            <a:pPr>
              <a:spcAft>
                <a:spcPts val="800"/>
              </a:spcAft>
              <a:defRPr sz="1200">
                <a:latin typeface="Arial"/>
              </a:defRPr>
            </a:pPr>
            <a:r>
              <a:rPr b="1">
                <a:solidFill>
                  <a:srgbClr val="F8FAFC"/>
                </a:solidFill>
              </a:rPr>
              <a:t>Continuous Supremacy: </a:t>
            </a:r>
            <a:r>
              <a:rPr>
                <a:solidFill>
                  <a:srgbClr val="94A3B8"/>
                </a:solidFill>
              </a:rPr>
              <a:t>Continuous actor-critic methods (A2C) significantly outperform discrete value-based approaches (DQN) by eliminating discretization churn.</a:t>
            </a:r>
          </a:p>
          <a:p>
            <a:pPr>
              <a:spcAft>
                <a:spcPts val="800"/>
              </a:spcAft>
              <a:defRPr sz="1200">
                <a:latin typeface="Arial"/>
              </a:defRPr>
            </a:pPr>
            <a:r>
              <a:rPr b="1">
                <a:solidFill>
                  <a:srgbClr val="F8FAFC"/>
                </a:solidFill>
              </a:rPr>
              <a:t>Superior Risk-Adjusted Alpha: </a:t>
            </a:r>
            <a:r>
              <a:rPr>
                <a:solidFill>
                  <a:srgbClr val="94A3B8"/>
                </a:solidFill>
              </a:rPr>
              <a:t>A2C achieved +16.11% total return and an institutional-grade 1.26 Sharpe Ratio, doubling the market baseline (+8.66%).</a:t>
            </a:r>
          </a:p>
          <a:p>
            <a:pPr>
              <a:spcAft>
                <a:spcPts val="800"/>
              </a:spcAft>
              <a:defRPr sz="1200">
                <a:latin typeface="Arial"/>
              </a:defRPr>
            </a:pPr>
            <a:r>
              <a:rPr b="1">
                <a:solidFill>
                  <a:srgbClr val="F8FAFC"/>
                </a:solidFill>
              </a:rPr>
              <a:t>Downside Protection: </a:t>
            </a:r>
            <a:r>
              <a:rPr>
                <a:solidFill>
                  <a:srgbClr val="94A3B8"/>
                </a:solidFill>
              </a:rPr>
              <a:t>RL agents act as active risk managers, curtailing maximum drawdown to -9.02%.</a:t>
            </a:r>
          </a:p>
          <a:p>
            <a:pPr>
              <a:spcAft>
                <a:spcPts val="800"/>
              </a:spcAft>
              <a:defRPr sz="1200">
                <a:latin typeface="Arial"/>
              </a:defRPr>
            </a:pPr>
            <a:r>
              <a:rPr b="1">
                <a:solidFill>
                  <a:srgbClr val="F8FAFC"/>
                </a:solidFill>
              </a:rPr>
              <a:t>Turnover Awareness: </a:t>
            </a:r>
            <a:r>
              <a:rPr>
                <a:solidFill>
                  <a:srgbClr val="94A3B8"/>
                </a:solidFill>
              </a:rPr>
              <a:t>Incorporating transaction costs in the reward function is mandatory to generate viable trading policies.</a:t>
            </a:r>
          </a:p>
        </p:txBody>
      </p:sp>
      <p:sp>
        <p:nvSpPr>
          <p:cNvPr id="8" name="Rounded Rectangle 7"/>
          <p:cNvSpPr/>
          <p:nvPr/>
        </p:nvSpPr>
        <p:spPr>
          <a:xfrm>
            <a:off x="6217920" y="1463040"/>
            <a:ext cx="5212080" cy="475488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46520" y="1645920"/>
            <a:ext cx="4754880" cy="365760"/>
          </a:xfrm>
          <a:prstGeom prst="rect">
            <a:avLst/>
          </a:prstGeom>
          <a:noFill/>
        </p:spPr>
        <p:txBody>
          <a:bodyPr wrap="square" lIns="0" tIns="0" rIns="0" bIns="0">
            <a:spAutoFit/>
          </a:bodyPr>
          <a:lstStyle/>
          <a:p>
            <a:pPr>
              <a:defRPr sz="1400" b="1">
                <a:solidFill>
                  <a:srgbClr val="0EA5E9"/>
                </a:solidFill>
                <a:latin typeface="Arial"/>
              </a:defRPr>
            </a:pPr>
            <a:r>
              <a:t>Future Research Directions</a:t>
            </a:r>
          </a:p>
        </p:txBody>
      </p:sp>
      <p:sp>
        <p:nvSpPr>
          <p:cNvPr id="10" name="TextBox 9"/>
          <p:cNvSpPr txBox="1"/>
          <p:nvPr/>
        </p:nvSpPr>
        <p:spPr>
          <a:xfrm>
            <a:off x="6446520" y="2011680"/>
            <a:ext cx="4754880" cy="3931920"/>
          </a:xfrm>
          <a:prstGeom prst="rect">
            <a:avLst/>
          </a:prstGeom>
          <a:noFill/>
        </p:spPr>
        <p:txBody>
          <a:bodyPr wrap="square" lIns="0" tIns="0" rIns="0" bIns="0">
            <a:spAutoFit/>
          </a:bodyPr>
          <a:lstStyle/>
          <a:p>
            <a:pPr>
              <a:spcAft>
                <a:spcPts val="800"/>
              </a:spcAft>
              <a:defRPr sz="1200">
                <a:latin typeface="Arial"/>
              </a:defRPr>
            </a:pPr>
            <a:r>
              <a:rPr b="1">
                <a:solidFill>
                  <a:srgbClr val="F8FAFC"/>
                </a:solidFill>
              </a:rPr>
              <a:t>Expanded Asset Universe: </a:t>
            </a:r>
            <a:r>
              <a:rPr>
                <a:solidFill>
                  <a:srgbClr val="94A3B8"/>
                </a:solidFill>
              </a:rPr>
              <a:t>Scaling from 3 macro indices to 50+ individual equities, corporate bonds, commodities, and crypto assets.</a:t>
            </a:r>
          </a:p>
          <a:p>
            <a:pPr>
              <a:spcAft>
                <a:spcPts val="800"/>
              </a:spcAft>
              <a:defRPr sz="1200">
                <a:latin typeface="Arial"/>
              </a:defRPr>
            </a:pPr>
            <a:r>
              <a:rPr b="1">
                <a:solidFill>
                  <a:srgbClr val="F8FAFC"/>
                </a:solidFill>
              </a:rPr>
              <a:t>Temporal Attention / Transformers: </a:t>
            </a:r>
            <a:r>
              <a:rPr>
                <a:solidFill>
                  <a:srgbClr val="94A3B8"/>
                </a:solidFill>
              </a:rPr>
              <a:t>Integrating Temporal Fusion Transformers (TFT) or LSTM recurrent layers to model multi-scale temporal dependencies.</a:t>
            </a:r>
          </a:p>
          <a:p>
            <a:pPr>
              <a:spcAft>
                <a:spcPts val="800"/>
              </a:spcAft>
              <a:defRPr sz="1200">
                <a:latin typeface="Arial"/>
              </a:defRPr>
            </a:pPr>
            <a:r>
              <a:rPr b="1">
                <a:solidFill>
                  <a:srgbClr val="F8FAFC"/>
                </a:solidFill>
              </a:rPr>
              <a:t>Risk-Constrained Objectives: </a:t>
            </a:r>
            <a:r>
              <a:rPr>
                <a:solidFill>
                  <a:srgbClr val="94A3B8"/>
                </a:solidFill>
              </a:rPr>
              <a:t>Incorporating Conditional Value-at-Risk (CVaR) and Maximum Drawdown constraints directly into the policy loss function.</a:t>
            </a:r>
          </a:p>
          <a:p>
            <a:pPr>
              <a:spcAft>
                <a:spcPts val="800"/>
              </a:spcAft>
              <a:defRPr sz="1200">
                <a:latin typeface="Arial"/>
              </a:defRPr>
            </a:pPr>
            <a:r>
              <a:rPr b="1">
                <a:solidFill>
                  <a:srgbClr val="F8FAFC"/>
                </a:solidFill>
              </a:rPr>
              <a:t>Multi-Agent Competitive RL: </a:t>
            </a:r>
            <a:r>
              <a:rPr>
                <a:solidFill>
                  <a:srgbClr val="94A3B8"/>
                </a:solidFill>
              </a:rPr>
              <a:t>Simulating multi-agent market ecosystems with order book slippage and market impact dynamics.</a:t>
            </a:r>
          </a:p>
          <a:p>
            <a:pPr>
              <a:spcAft>
                <a:spcPts val="800"/>
              </a:spcAft>
              <a:defRPr sz="1200">
                <a:latin typeface="Arial"/>
              </a:defRPr>
            </a:pPr>
            <a:r>
              <a:rPr b="1">
                <a:solidFill>
                  <a:srgbClr val="F8FAFC"/>
                </a:solidFill>
              </a:rPr>
              <a:t>Live API Paper Trading: </a:t>
            </a:r>
            <a:r>
              <a:rPr>
                <a:solidFill>
                  <a:srgbClr val="94A3B8"/>
                </a:solidFill>
              </a:rPr>
              <a:t>Connecting the Streamlit engine to Alpaca or Interactive Brokers APIs for real-time paper execution.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